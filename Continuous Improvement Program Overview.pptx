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6858000" cx="12192000"/>
  <p:notesSz cx="6858000" cy="9144000"/>
  <p:embeddedFontLst>
    <p:embeddedFont>
      <p:font typeface="Montserrat SemiBold"/>
      <p:regular r:id="rId21"/>
      <p:bold r:id="rId22"/>
      <p:italic r:id="rId23"/>
      <p:boldItalic r:id="rId24"/>
    </p:embeddedFont>
    <p:embeddedFont>
      <p:font typeface="Inter SemiBold"/>
      <p:regular r:id="rId25"/>
      <p:bold r:id="rId26"/>
      <p:italic r:id="rId27"/>
      <p:boldItalic r:id="rId28"/>
    </p:embeddedFont>
    <p:embeddedFont>
      <p:font typeface="Inter"/>
      <p:regular r:id="rId29"/>
      <p:bold r:id="rId30"/>
      <p:italic r:id="rId31"/>
      <p:boldItalic r:id="rId32"/>
    </p:embeddedFont>
    <p:embeddedFont>
      <p:font typeface="Montserrat"/>
      <p:regular r:id="rId33"/>
      <p:bold r:id="rId34"/>
      <p:italic r:id="rId35"/>
      <p:boldItalic r:id="rId36"/>
    </p:embeddedFont>
    <p:embeddedFont>
      <p:font typeface="Montserrat Medium"/>
      <p:regular r:id="rId37"/>
      <p:bold r:id="rId38"/>
      <p:italic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MontserratMedium-boldItalic.fntdata"/><Relationship Id="rId20" Type="http://schemas.openxmlformats.org/officeDocument/2006/relationships/slide" Target="slides/slide15.xml"/><Relationship Id="rId22" Type="http://schemas.openxmlformats.org/officeDocument/2006/relationships/font" Target="fonts/MontserratSemiBold-bold.fntdata"/><Relationship Id="rId21" Type="http://schemas.openxmlformats.org/officeDocument/2006/relationships/font" Target="fonts/MontserratSemiBold-regular.fntdata"/><Relationship Id="rId24" Type="http://schemas.openxmlformats.org/officeDocument/2006/relationships/font" Target="fonts/MontserratSemiBold-boldItalic.fntdata"/><Relationship Id="rId23" Type="http://schemas.openxmlformats.org/officeDocument/2006/relationships/font" Target="fonts/MontserratSemi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InterSemiBold-bold.fntdata"/><Relationship Id="rId25" Type="http://schemas.openxmlformats.org/officeDocument/2006/relationships/font" Target="fonts/InterSemiBold-regular.fntdata"/><Relationship Id="rId28" Type="http://schemas.openxmlformats.org/officeDocument/2006/relationships/font" Target="fonts/InterSemiBold-boldItalic.fntdata"/><Relationship Id="rId27" Type="http://schemas.openxmlformats.org/officeDocument/2006/relationships/font" Target="fonts/InterSemi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Inter-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Inter-italic.fntdata"/><Relationship Id="rId30" Type="http://schemas.openxmlformats.org/officeDocument/2006/relationships/font" Target="fonts/Inter-bold.fntdata"/><Relationship Id="rId11" Type="http://schemas.openxmlformats.org/officeDocument/2006/relationships/slide" Target="slides/slide6.xml"/><Relationship Id="rId33" Type="http://schemas.openxmlformats.org/officeDocument/2006/relationships/font" Target="fonts/Montserrat-regular.fntdata"/><Relationship Id="rId10" Type="http://schemas.openxmlformats.org/officeDocument/2006/relationships/slide" Target="slides/slide5.xml"/><Relationship Id="rId32" Type="http://schemas.openxmlformats.org/officeDocument/2006/relationships/font" Target="fonts/Inter-boldItalic.fntdata"/><Relationship Id="rId13" Type="http://schemas.openxmlformats.org/officeDocument/2006/relationships/slide" Target="slides/slide8.xml"/><Relationship Id="rId35" Type="http://schemas.openxmlformats.org/officeDocument/2006/relationships/font" Target="fonts/Montserrat-italic.fntdata"/><Relationship Id="rId12" Type="http://schemas.openxmlformats.org/officeDocument/2006/relationships/slide" Target="slides/slide7.xml"/><Relationship Id="rId34" Type="http://schemas.openxmlformats.org/officeDocument/2006/relationships/font" Target="fonts/Montserrat-bold.fntdata"/><Relationship Id="rId15" Type="http://schemas.openxmlformats.org/officeDocument/2006/relationships/slide" Target="slides/slide10.xml"/><Relationship Id="rId37" Type="http://schemas.openxmlformats.org/officeDocument/2006/relationships/font" Target="fonts/MontserratMedium-regular.fntdata"/><Relationship Id="rId14" Type="http://schemas.openxmlformats.org/officeDocument/2006/relationships/slide" Target="slides/slide9.xml"/><Relationship Id="rId36" Type="http://schemas.openxmlformats.org/officeDocument/2006/relationships/font" Target="fonts/Montserrat-boldItalic.fntdata"/><Relationship Id="rId17" Type="http://schemas.openxmlformats.org/officeDocument/2006/relationships/slide" Target="slides/slide12.xml"/><Relationship Id="rId39" Type="http://schemas.openxmlformats.org/officeDocument/2006/relationships/font" Target="fonts/MontserratMedium-italic.fntdata"/><Relationship Id="rId16" Type="http://schemas.openxmlformats.org/officeDocument/2006/relationships/slide" Target="slides/slide11.xml"/><Relationship Id="rId38" Type="http://schemas.openxmlformats.org/officeDocument/2006/relationships/font" Target="fonts/MontserratMedium-bold.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5.png"/><Relationship Id="rId6"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25.png"/><Relationship Id="rId6" Type="http://schemas.openxmlformats.org/officeDocument/2006/relationships/image" Target="../media/image18.png"/><Relationship Id="rId7" Type="http://schemas.openxmlformats.org/officeDocument/2006/relationships/image" Target="../media/image26.png"/><Relationship Id="rId8" Type="http://schemas.openxmlformats.org/officeDocument/2006/relationships/image" Target="../media/image2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2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8.png"/><Relationship Id="rId5" Type="http://schemas.openxmlformats.org/officeDocument/2006/relationships/image" Target="../media/image15.png"/><Relationship Id="rId6" Type="http://schemas.openxmlformats.org/officeDocument/2006/relationships/image" Target="../media/image11.png"/><Relationship Id="rId7"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25.png"/><Relationship Id="rId6" Type="http://schemas.openxmlformats.org/officeDocument/2006/relationships/image" Target="../media/image7.png"/><Relationship Id="rId7" Type="http://schemas.openxmlformats.org/officeDocument/2006/relationships/image" Target="../media/image10.png"/><Relationship Id="rId8"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22.png"/><Relationship Id="rId5" Type="http://schemas.openxmlformats.org/officeDocument/2006/relationships/image" Target="../media/image20.png"/><Relationship Id="rId6" Type="http://schemas.openxmlformats.org/officeDocument/2006/relationships/image" Target="../media/image14.png"/><Relationship Id="rId7" Type="http://schemas.openxmlformats.org/officeDocument/2006/relationships/image" Target="../media/image13.png"/><Relationship Id="rId8" Type="http://schemas.openxmlformats.org/officeDocument/2006/relationships/image" Target="../media/image2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png"/><Relationship Id="rId4" Type="http://schemas.openxmlformats.org/officeDocument/2006/relationships/image" Target="../media/image27.png"/><Relationship Id="rId5"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image16.png"/><Relationship Id="rId5" Type="http://schemas.openxmlformats.org/officeDocument/2006/relationships/image" Target="../media/image29.png"/><Relationship Id="rId6" Type="http://schemas.openxmlformats.org/officeDocument/2006/relationships/image" Target="../media/image28.png"/><Relationship Id="rId7"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93B"/>
        </a:solidFill>
      </p:bgPr>
    </p:bg>
    <p:spTree>
      <p:nvGrpSpPr>
        <p:cNvPr id="83" name="Shape 83"/>
        <p:cNvGrpSpPr/>
        <p:nvPr/>
      </p:nvGrpSpPr>
      <p:grpSpPr>
        <a:xfrm>
          <a:off x="0" y="0"/>
          <a:ext cx="0" cy="0"/>
          <a:chOff x="0" y="0"/>
          <a:chExt cx="0" cy="0"/>
        </a:xfrm>
      </p:grpSpPr>
      <p:pic>
        <p:nvPicPr>
          <p:cNvPr descr="image.png" id="84" name="Google Shape;84;p1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85" name="Google Shape;85;p13"/>
          <p:cNvSpPr txBox="1"/>
          <p:nvPr/>
        </p:nvSpPr>
        <p:spPr>
          <a:xfrm>
            <a:off x="2755582" y="2397472"/>
            <a:ext cx="6680835" cy="733425"/>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0" i="0" lang="en-US" sz="5250" u="none" cap="none" strike="noStrike">
                <a:solidFill>
                  <a:srgbClr val="F1F5F9"/>
                </a:solidFill>
                <a:latin typeface="Montserrat SemiBold"/>
                <a:ea typeface="Montserrat SemiBold"/>
                <a:cs typeface="Montserrat SemiBold"/>
                <a:sym typeface="Montserrat SemiBold"/>
              </a:rPr>
              <a:t>Driving </a:t>
            </a:r>
            <a:r>
              <a:rPr b="0" i="0" lang="en-US" sz="5250" u="none" cap="none" strike="noStrike">
                <a:solidFill>
                  <a:srgbClr val="38BDF8"/>
                </a:solidFill>
                <a:latin typeface="Montserrat SemiBold"/>
                <a:ea typeface="Montserrat SemiBold"/>
                <a:cs typeface="Montserrat SemiBold"/>
                <a:sym typeface="Montserrat SemiBold"/>
              </a:rPr>
              <a:t>Excellence</a:t>
            </a:r>
            <a:endParaRPr/>
          </a:p>
        </p:txBody>
      </p:sp>
      <p:sp>
        <p:nvSpPr>
          <p:cNvPr id="86" name="Google Shape;86;p13"/>
          <p:cNvSpPr txBox="1"/>
          <p:nvPr/>
        </p:nvSpPr>
        <p:spPr>
          <a:xfrm>
            <a:off x="2286000" y="3416647"/>
            <a:ext cx="7620000" cy="853380"/>
          </a:xfrm>
          <a:prstGeom prst="rect">
            <a:avLst/>
          </a:prstGeom>
          <a:noFill/>
          <a:ln>
            <a:noFill/>
          </a:ln>
        </p:spPr>
        <p:txBody>
          <a:bodyPr anchorCtr="0" anchor="t" bIns="0" lIns="0" spcFirstLastPara="1" rIns="0" wrap="square" tIns="0">
            <a:spAutoFit/>
          </a:bodyPr>
          <a:lstStyle/>
          <a:p>
            <a:pPr indent="0" lvl="0" marL="0" marR="0" rtl="0" algn="ctr">
              <a:lnSpc>
                <a:spcPct val="159952"/>
              </a:lnSpc>
              <a:spcBef>
                <a:spcPts val="0"/>
              </a:spcBef>
              <a:spcAft>
                <a:spcPts val="0"/>
              </a:spcAft>
              <a:buNone/>
            </a:pPr>
            <a:r>
              <a:rPr b="0" i="0" lang="en-US" sz="2100" u="none" cap="none" strike="noStrike">
                <a:solidFill>
                  <a:srgbClr val="94A3B8"/>
                </a:solidFill>
                <a:latin typeface="Inter"/>
                <a:ea typeface="Inter"/>
                <a:cs typeface="Inter"/>
                <a:sym typeface="Inter"/>
              </a:rPr>
              <a:t>Continuous Improvement Program Overview &amp; Strategic Roadmap</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93B"/>
        </a:solidFill>
      </p:bgPr>
    </p:bg>
    <p:spTree>
      <p:nvGrpSpPr>
        <p:cNvPr id="90" name="Shape 90"/>
        <p:cNvGrpSpPr/>
        <p:nvPr/>
      </p:nvGrpSpPr>
      <p:grpSpPr>
        <a:xfrm>
          <a:off x="0" y="0"/>
          <a:ext cx="0" cy="0"/>
          <a:chOff x="0" y="0"/>
          <a:chExt cx="0" cy="0"/>
        </a:xfrm>
      </p:grpSpPr>
      <p:pic>
        <p:nvPicPr>
          <p:cNvPr descr="image.png" id="91" name="Google Shape;91;p1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92" name="Google Shape;92;p14"/>
          <p:cNvSpPr/>
          <p:nvPr/>
        </p:nvSpPr>
        <p:spPr>
          <a:xfrm>
            <a:off x="5524500" y="2712690"/>
            <a:ext cx="1143000" cy="38100"/>
          </a:xfrm>
          <a:prstGeom prst="rect">
            <a:avLst/>
          </a:prstGeom>
          <a:solidFill>
            <a:srgbClr val="38BD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3" name="Google Shape;93;p14"/>
          <p:cNvSpPr txBox="1"/>
          <p:nvPr/>
        </p:nvSpPr>
        <p:spPr>
          <a:xfrm>
            <a:off x="4140755" y="3036540"/>
            <a:ext cx="3910488" cy="6953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4500" u="none" cap="none" strike="noStrike">
                <a:solidFill>
                  <a:srgbClr val="F1F5F9"/>
                </a:solidFill>
                <a:latin typeface="Montserrat SemiBold"/>
                <a:ea typeface="Montserrat SemiBold"/>
                <a:cs typeface="Montserrat SemiBold"/>
                <a:sym typeface="Montserrat SemiBold"/>
              </a:rPr>
              <a:t>Who We Are</a:t>
            </a:r>
            <a:endParaRPr/>
          </a:p>
        </p:txBody>
      </p:sp>
      <p:sp>
        <p:nvSpPr>
          <p:cNvPr id="94" name="Google Shape;94;p14"/>
          <p:cNvSpPr txBox="1"/>
          <p:nvPr/>
        </p:nvSpPr>
        <p:spPr>
          <a:xfrm>
            <a:off x="3671887" y="3922365"/>
            <a:ext cx="4848225" cy="365670"/>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None/>
            </a:pPr>
            <a:r>
              <a:rPr b="0" i="0" lang="en-US" sz="1800" u="none" cap="none" strike="noStrike">
                <a:solidFill>
                  <a:srgbClr val="94A3B8"/>
                </a:solidFill>
                <a:latin typeface="Inter"/>
                <a:ea typeface="Inter"/>
                <a:cs typeface="Inter"/>
                <a:sym typeface="Inter"/>
              </a:rPr>
              <a:t>Enterprise Strategy &amp; Resource Management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93B"/>
        </a:solidFill>
      </p:bgPr>
    </p:bg>
    <p:spTree>
      <p:nvGrpSpPr>
        <p:cNvPr id="98" name="Shape 98"/>
        <p:cNvGrpSpPr/>
        <p:nvPr/>
      </p:nvGrpSpPr>
      <p:grpSpPr>
        <a:xfrm>
          <a:off x="0" y="0"/>
          <a:ext cx="0" cy="0"/>
          <a:chOff x="0" y="0"/>
          <a:chExt cx="0" cy="0"/>
        </a:xfrm>
      </p:grpSpPr>
      <p:pic>
        <p:nvPicPr>
          <p:cNvPr descr="image.png" id="99" name="Google Shape;99;p1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00" name="Google Shape;100;p15"/>
          <p:cNvPicPr preferRelativeResize="0"/>
          <p:nvPr/>
        </p:nvPicPr>
        <p:blipFill rotWithShape="1">
          <a:blip r:embed="rId4">
            <a:alphaModFix/>
          </a:blip>
          <a:srcRect b="0" l="0" r="0" t="0"/>
          <a:stretch/>
        </p:blipFill>
        <p:spPr>
          <a:xfrm>
            <a:off x="6381750" y="1947862"/>
            <a:ext cx="5238750" cy="3810000"/>
          </a:xfrm>
          <a:prstGeom prst="rect">
            <a:avLst/>
          </a:prstGeom>
          <a:noFill/>
          <a:ln>
            <a:noFill/>
          </a:ln>
        </p:spPr>
      </p:pic>
      <p:sp>
        <p:nvSpPr>
          <p:cNvPr id="101" name="Google Shape;101;p15"/>
          <p:cNvSpPr txBox="1"/>
          <p:nvPr/>
        </p:nvSpPr>
        <p:spPr>
          <a:xfrm>
            <a:off x="857250" y="1643062"/>
            <a:ext cx="4953000"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F1F5F9"/>
                </a:solidFill>
                <a:latin typeface="Inter"/>
                <a:ea typeface="Inter"/>
                <a:cs typeface="Inter"/>
                <a:sym typeface="Inter"/>
              </a:rPr>
              <a:t>The Continuous Improvement (CI) program serves as the strategic engine for organizational modernization and operational excellence.</a:t>
            </a:r>
            <a:endParaRPr/>
          </a:p>
        </p:txBody>
      </p:sp>
      <p:sp>
        <p:nvSpPr>
          <p:cNvPr id="102" name="Google Shape;102;p15"/>
          <p:cNvSpPr txBox="1"/>
          <p:nvPr/>
        </p:nvSpPr>
        <p:spPr>
          <a:xfrm>
            <a:off x="857250" y="2747962"/>
            <a:ext cx="4953000"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F1F5F9"/>
                </a:solidFill>
                <a:latin typeface="Inter"/>
                <a:ea typeface="Inter"/>
                <a:cs typeface="Inter"/>
                <a:sym typeface="Inter"/>
              </a:rPr>
              <a:t>We shift operations from reactive, siloed problem-solving to proactive, scalable, and data-driven service delivery models.</a:t>
            </a:r>
            <a:endParaRPr/>
          </a:p>
        </p:txBody>
      </p:sp>
      <p:sp>
        <p:nvSpPr>
          <p:cNvPr id="103" name="Google Shape;103;p15"/>
          <p:cNvSpPr txBox="1"/>
          <p:nvPr/>
        </p:nvSpPr>
        <p:spPr>
          <a:xfrm>
            <a:off x="857250" y="3852862"/>
            <a:ext cx="4953000"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F1F5F9"/>
                </a:solidFill>
                <a:latin typeface="Inter"/>
                <a:ea typeface="Inter"/>
                <a:cs typeface="Inter"/>
                <a:sym typeface="Inter"/>
              </a:rPr>
              <a:t>Operating as a Center of Excellence, we embed proven industry practices to reduce operational risks and total cost of ownership.</a:t>
            </a:r>
            <a:endParaRPr/>
          </a:p>
        </p:txBody>
      </p:sp>
      <p:sp>
        <p:nvSpPr>
          <p:cNvPr id="104" name="Google Shape;104;p15"/>
          <p:cNvSpPr txBox="1"/>
          <p:nvPr/>
        </p:nvSpPr>
        <p:spPr>
          <a:xfrm>
            <a:off x="857250" y="4957762"/>
            <a:ext cx="4953000"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F1F5F9"/>
                </a:solidFill>
                <a:latin typeface="Inter"/>
                <a:ea typeface="Inter"/>
                <a:cs typeface="Inter"/>
                <a:sym typeface="Inter"/>
              </a:rPr>
              <a:t>Our multidisciplinary team partners with departments to fundamentally engineer modern, resilient agency workflows.</a:t>
            </a:r>
            <a:endParaRPr/>
          </a:p>
        </p:txBody>
      </p:sp>
      <p:pic>
        <p:nvPicPr>
          <p:cNvPr descr="image.png" id="105" name="Google Shape;105;p15"/>
          <p:cNvPicPr preferRelativeResize="0"/>
          <p:nvPr/>
        </p:nvPicPr>
        <p:blipFill rotWithShape="1">
          <a:blip r:embed="rId5">
            <a:alphaModFix/>
          </a:blip>
          <a:srcRect b="0" l="0" r="0" t="0"/>
          <a:stretch/>
        </p:blipFill>
        <p:spPr>
          <a:xfrm>
            <a:off x="6391275" y="1957387"/>
            <a:ext cx="5219700" cy="381000"/>
          </a:xfrm>
          <a:prstGeom prst="rect">
            <a:avLst/>
          </a:prstGeom>
          <a:noFill/>
          <a:ln>
            <a:noFill/>
          </a:ln>
        </p:spPr>
      </p:pic>
      <p:sp>
        <p:nvSpPr>
          <p:cNvPr id="106" name="Google Shape;106;p15"/>
          <p:cNvSpPr txBox="1"/>
          <p:nvPr/>
        </p:nvSpPr>
        <p:spPr>
          <a:xfrm>
            <a:off x="571500" y="571500"/>
            <a:ext cx="11601450" cy="4667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000" u="none" cap="none" strike="noStrike">
                <a:solidFill>
                  <a:srgbClr val="F1F5F9"/>
                </a:solidFill>
                <a:latin typeface="Montserrat SemiBold"/>
                <a:ea typeface="Montserrat SemiBold"/>
                <a:cs typeface="Montserrat SemiBold"/>
                <a:sym typeface="Montserrat SemiBold"/>
              </a:rPr>
              <a:t>The CI Identity</a:t>
            </a:r>
            <a:endParaRPr/>
          </a:p>
        </p:txBody>
      </p:sp>
      <p:pic>
        <p:nvPicPr>
          <p:cNvPr descr="image.png" id="107" name="Google Shape;107;p15"/>
          <p:cNvPicPr preferRelativeResize="0"/>
          <p:nvPr/>
        </p:nvPicPr>
        <p:blipFill rotWithShape="1">
          <a:blip r:embed="rId6">
            <a:alphaModFix/>
          </a:blip>
          <a:srcRect b="0" l="0" r="0" t="0"/>
          <a:stretch/>
        </p:blipFill>
        <p:spPr>
          <a:xfrm>
            <a:off x="571500" y="1662112"/>
            <a:ext cx="95250" cy="200025"/>
          </a:xfrm>
          <a:prstGeom prst="rect">
            <a:avLst/>
          </a:prstGeom>
          <a:noFill/>
          <a:ln>
            <a:noFill/>
          </a:ln>
        </p:spPr>
      </p:pic>
      <p:pic>
        <p:nvPicPr>
          <p:cNvPr descr="image.png" id="108" name="Google Shape;108;p15"/>
          <p:cNvPicPr preferRelativeResize="0"/>
          <p:nvPr/>
        </p:nvPicPr>
        <p:blipFill rotWithShape="1">
          <a:blip r:embed="rId6">
            <a:alphaModFix/>
          </a:blip>
          <a:srcRect b="0" l="0" r="0" t="0"/>
          <a:stretch/>
        </p:blipFill>
        <p:spPr>
          <a:xfrm>
            <a:off x="571500" y="2767012"/>
            <a:ext cx="95250" cy="200025"/>
          </a:xfrm>
          <a:prstGeom prst="rect">
            <a:avLst/>
          </a:prstGeom>
          <a:noFill/>
          <a:ln>
            <a:noFill/>
          </a:ln>
        </p:spPr>
      </p:pic>
      <p:pic>
        <p:nvPicPr>
          <p:cNvPr descr="image.png" id="109" name="Google Shape;109;p15"/>
          <p:cNvPicPr preferRelativeResize="0"/>
          <p:nvPr/>
        </p:nvPicPr>
        <p:blipFill rotWithShape="1">
          <a:blip r:embed="rId6">
            <a:alphaModFix/>
          </a:blip>
          <a:srcRect b="0" l="0" r="0" t="0"/>
          <a:stretch/>
        </p:blipFill>
        <p:spPr>
          <a:xfrm>
            <a:off x="571500" y="3871912"/>
            <a:ext cx="95250" cy="200025"/>
          </a:xfrm>
          <a:prstGeom prst="rect">
            <a:avLst/>
          </a:prstGeom>
          <a:noFill/>
          <a:ln>
            <a:noFill/>
          </a:ln>
        </p:spPr>
      </p:pic>
      <p:pic>
        <p:nvPicPr>
          <p:cNvPr descr="image.png" id="110" name="Google Shape;110;p15"/>
          <p:cNvPicPr preferRelativeResize="0"/>
          <p:nvPr/>
        </p:nvPicPr>
        <p:blipFill rotWithShape="1">
          <a:blip r:embed="rId6">
            <a:alphaModFix/>
          </a:blip>
          <a:srcRect b="0" l="0" r="0" t="0"/>
          <a:stretch/>
        </p:blipFill>
        <p:spPr>
          <a:xfrm>
            <a:off x="571500" y="4976812"/>
            <a:ext cx="95250" cy="2000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93B"/>
        </a:solidFill>
      </p:bgPr>
    </p:bg>
    <p:spTree>
      <p:nvGrpSpPr>
        <p:cNvPr id="114" name="Shape 114"/>
        <p:cNvGrpSpPr/>
        <p:nvPr/>
      </p:nvGrpSpPr>
      <p:grpSpPr>
        <a:xfrm>
          <a:off x="0" y="0"/>
          <a:ext cx="0" cy="0"/>
          <a:chOff x="0" y="0"/>
          <a:chExt cx="0" cy="0"/>
        </a:xfrm>
      </p:grpSpPr>
      <p:pic>
        <p:nvPicPr>
          <p:cNvPr descr="image.png" id="115" name="Google Shape;115;p1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16" name="Google Shape;116;p16"/>
          <p:cNvSpPr/>
          <p:nvPr/>
        </p:nvSpPr>
        <p:spPr>
          <a:xfrm>
            <a:off x="5524500" y="2712690"/>
            <a:ext cx="1143000" cy="38100"/>
          </a:xfrm>
          <a:prstGeom prst="rect">
            <a:avLst/>
          </a:prstGeom>
          <a:solidFill>
            <a:srgbClr val="38BD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7" name="Google Shape;117;p16"/>
          <p:cNvSpPr txBox="1"/>
          <p:nvPr/>
        </p:nvSpPr>
        <p:spPr>
          <a:xfrm>
            <a:off x="4115752" y="3036540"/>
            <a:ext cx="3960495" cy="6953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4500" u="none" cap="none" strike="noStrike">
                <a:solidFill>
                  <a:srgbClr val="F1F5F9"/>
                </a:solidFill>
                <a:latin typeface="Montserrat SemiBold"/>
                <a:ea typeface="Montserrat SemiBold"/>
                <a:cs typeface="Montserrat SemiBold"/>
                <a:sym typeface="Montserrat SemiBold"/>
              </a:rPr>
              <a:t>What We Do</a:t>
            </a:r>
            <a:endParaRPr/>
          </a:p>
        </p:txBody>
      </p:sp>
      <p:sp>
        <p:nvSpPr>
          <p:cNvPr id="118" name="Google Shape;118;p16"/>
          <p:cNvSpPr txBox="1"/>
          <p:nvPr/>
        </p:nvSpPr>
        <p:spPr>
          <a:xfrm>
            <a:off x="4481512" y="3922365"/>
            <a:ext cx="3228975" cy="365670"/>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None/>
            </a:pPr>
            <a:r>
              <a:rPr b="0" i="0" lang="en-US" sz="1800" u="none" cap="none" strike="noStrike">
                <a:solidFill>
                  <a:srgbClr val="94A3B8"/>
                </a:solidFill>
                <a:latin typeface="Inter"/>
                <a:ea typeface="Inter"/>
                <a:cs typeface="Inter"/>
                <a:sym typeface="Inter"/>
              </a:rPr>
              <a:t>Our Core Products &amp; Services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93B"/>
        </a:solidFill>
      </p:bgPr>
    </p:bg>
    <p:spTree>
      <p:nvGrpSpPr>
        <p:cNvPr id="122" name="Shape 122"/>
        <p:cNvGrpSpPr/>
        <p:nvPr/>
      </p:nvGrpSpPr>
      <p:grpSpPr>
        <a:xfrm>
          <a:off x="0" y="0"/>
          <a:ext cx="0" cy="0"/>
          <a:chOff x="0" y="0"/>
          <a:chExt cx="0" cy="0"/>
        </a:xfrm>
      </p:grpSpPr>
      <p:pic>
        <p:nvPicPr>
          <p:cNvPr descr="image.png" id="123" name="Google Shape;123;p1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24" name="Google Shape;124;p17"/>
          <p:cNvPicPr preferRelativeResize="0"/>
          <p:nvPr/>
        </p:nvPicPr>
        <p:blipFill rotWithShape="1">
          <a:blip r:embed="rId4">
            <a:alphaModFix/>
          </a:blip>
          <a:srcRect b="0" l="0" r="0" t="0"/>
          <a:stretch/>
        </p:blipFill>
        <p:spPr>
          <a:xfrm>
            <a:off x="571500" y="1791741"/>
            <a:ext cx="3429000" cy="4122241"/>
          </a:xfrm>
          <a:prstGeom prst="rect">
            <a:avLst/>
          </a:prstGeom>
          <a:noFill/>
          <a:ln>
            <a:noFill/>
          </a:ln>
        </p:spPr>
      </p:pic>
      <p:pic>
        <p:nvPicPr>
          <p:cNvPr descr="image.png" id="125" name="Google Shape;125;p17"/>
          <p:cNvPicPr preferRelativeResize="0"/>
          <p:nvPr/>
        </p:nvPicPr>
        <p:blipFill rotWithShape="1">
          <a:blip r:embed="rId5">
            <a:alphaModFix/>
          </a:blip>
          <a:srcRect b="0" l="0" r="0" t="0"/>
          <a:stretch/>
        </p:blipFill>
        <p:spPr>
          <a:xfrm>
            <a:off x="4381500" y="1791741"/>
            <a:ext cx="3429000" cy="4122241"/>
          </a:xfrm>
          <a:prstGeom prst="rect">
            <a:avLst/>
          </a:prstGeom>
          <a:noFill/>
          <a:ln>
            <a:noFill/>
          </a:ln>
        </p:spPr>
      </p:pic>
      <p:pic>
        <p:nvPicPr>
          <p:cNvPr descr="image.png" id="126" name="Google Shape;126;p17"/>
          <p:cNvPicPr preferRelativeResize="0"/>
          <p:nvPr/>
        </p:nvPicPr>
        <p:blipFill rotWithShape="1">
          <a:blip r:embed="rId5">
            <a:alphaModFix/>
          </a:blip>
          <a:srcRect b="0" l="0" r="0" t="0"/>
          <a:stretch/>
        </p:blipFill>
        <p:spPr>
          <a:xfrm>
            <a:off x="8191500" y="1791741"/>
            <a:ext cx="3429000" cy="4122241"/>
          </a:xfrm>
          <a:prstGeom prst="rect">
            <a:avLst/>
          </a:prstGeom>
          <a:noFill/>
          <a:ln>
            <a:noFill/>
          </a:ln>
        </p:spPr>
      </p:pic>
      <p:sp>
        <p:nvSpPr>
          <p:cNvPr id="127" name="Google Shape;127;p17"/>
          <p:cNvSpPr txBox="1"/>
          <p:nvPr/>
        </p:nvSpPr>
        <p:spPr>
          <a:xfrm>
            <a:off x="866775" y="2944266"/>
            <a:ext cx="2980372" cy="647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100" u="none" cap="none" strike="noStrike">
                <a:solidFill>
                  <a:srgbClr val="38BDF8"/>
                </a:solidFill>
                <a:latin typeface="Montserrat Medium"/>
                <a:ea typeface="Montserrat Medium"/>
                <a:cs typeface="Montserrat Medium"/>
                <a:sym typeface="Montserrat Medium"/>
              </a:rPr>
              <a:t>Process Mapping &amp; SOPs</a:t>
            </a:r>
            <a:endParaRPr/>
          </a:p>
        </p:txBody>
      </p:sp>
      <p:sp>
        <p:nvSpPr>
          <p:cNvPr id="128" name="Google Shape;128;p17"/>
          <p:cNvSpPr txBox="1"/>
          <p:nvPr/>
        </p:nvSpPr>
        <p:spPr>
          <a:xfrm>
            <a:off x="866775" y="3734841"/>
            <a:ext cx="2838450" cy="164574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94A3B8"/>
                </a:solidFill>
                <a:latin typeface="Inter"/>
                <a:ea typeface="Inter"/>
                <a:cs typeface="Inter"/>
                <a:sym typeface="Inter"/>
              </a:rPr>
              <a:t>Establishing accurate "As-Is" operational baselines and engineering "To-Be" future state blueprints, supported by comprehensive Standard Operating Procedures.</a:t>
            </a:r>
            <a:endParaRPr/>
          </a:p>
        </p:txBody>
      </p:sp>
      <p:sp>
        <p:nvSpPr>
          <p:cNvPr id="129" name="Google Shape;129;p17"/>
          <p:cNvSpPr txBox="1"/>
          <p:nvPr/>
        </p:nvSpPr>
        <p:spPr>
          <a:xfrm>
            <a:off x="4676775" y="2944266"/>
            <a:ext cx="2980372" cy="647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100" u="none" cap="none" strike="noStrike">
                <a:solidFill>
                  <a:srgbClr val="38BDF8"/>
                </a:solidFill>
                <a:latin typeface="Montserrat Medium"/>
                <a:ea typeface="Montserrat Medium"/>
                <a:cs typeface="Montserrat Medium"/>
                <a:sym typeface="Montserrat Medium"/>
              </a:rPr>
              <a:t>SLA &amp; OLA Agreements</a:t>
            </a:r>
            <a:endParaRPr/>
          </a:p>
        </p:txBody>
      </p:sp>
      <p:sp>
        <p:nvSpPr>
          <p:cNvPr id="130" name="Google Shape;130;p17"/>
          <p:cNvSpPr txBox="1"/>
          <p:nvPr/>
        </p:nvSpPr>
        <p:spPr>
          <a:xfrm>
            <a:off x="4676775" y="3734841"/>
            <a:ext cx="2838450" cy="137145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94A3B8"/>
                </a:solidFill>
                <a:latin typeface="Inter"/>
                <a:ea typeface="Inter"/>
                <a:cs typeface="Inter"/>
                <a:sym typeface="Inter"/>
              </a:rPr>
              <a:t>Defining clear Service Level Agreements and Operational Level Agreements to ensure absolute accountability and seamless departmental handoffs.</a:t>
            </a:r>
            <a:endParaRPr/>
          </a:p>
        </p:txBody>
      </p:sp>
      <p:sp>
        <p:nvSpPr>
          <p:cNvPr id="131" name="Google Shape;131;p17"/>
          <p:cNvSpPr txBox="1"/>
          <p:nvPr/>
        </p:nvSpPr>
        <p:spPr>
          <a:xfrm>
            <a:off x="8486775" y="2944266"/>
            <a:ext cx="2780347" cy="3238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100" u="none" cap="none" strike="noStrike">
                <a:solidFill>
                  <a:srgbClr val="38BDF8"/>
                </a:solidFill>
                <a:latin typeface="Montserrat Medium"/>
                <a:ea typeface="Montserrat Medium"/>
                <a:cs typeface="Montserrat Medium"/>
                <a:sym typeface="Montserrat Medium"/>
              </a:rPr>
              <a:t>Knowledge Centers</a:t>
            </a:r>
            <a:endParaRPr/>
          </a:p>
        </p:txBody>
      </p:sp>
      <p:sp>
        <p:nvSpPr>
          <p:cNvPr id="132" name="Google Shape;132;p17"/>
          <p:cNvSpPr txBox="1"/>
          <p:nvPr/>
        </p:nvSpPr>
        <p:spPr>
          <a:xfrm>
            <a:off x="8486775" y="3410991"/>
            <a:ext cx="2838450" cy="137145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94A3B8"/>
                </a:solidFill>
                <a:latin typeface="Inter"/>
                <a:ea typeface="Inter"/>
                <a:cs typeface="Inter"/>
                <a:sym typeface="Inter"/>
              </a:rPr>
              <a:t>Building immersive training ecosystems, simulation laboratories, and interactive assessment tools to guarantee staff readiness and compliance.</a:t>
            </a:r>
            <a:endParaRPr/>
          </a:p>
        </p:txBody>
      </p:sp>
      <p:pic>
        <p:nvPicPr>
          <p:cNvPr descr="image.png" id="133" name="Google Shape;133;p17"/>
          <p:cNvPicPr preferRelativeResize="0"/>
          <p:nvPr/>
        </p:nvPicPr>
        <p:blipFill rotWithShape="1">
          <a:blip r:embed="rId6">
            <a:alphaModFix/>
          </a:blip>
          <a:srcRect b="0" l="0" r="0" t="0"/>
          <a:stretch/>
        </p:blipFill>
        <p:spPr>
          <a:xfrm>
            <a:off x="866775" y="2229891"/>
            <a:ext cx="485775" cy="428625"/>
          </a:xfrm>
          <a:prstGeom prst="rect">
            <a:avLst/>
          </a:prstGeom>
          <a:noFill/>
          <a:ln>
            <a:noFill/>
          </a:ln>
        </p:spPr>
      </p:pic>
      <p:pic>
        <p:nvPicPr>
          <p:cNvPr descr="image.png" id="134" name="Google Shape;134;p17"/>
          <p:cNvPicPr preferRelativeResize="0"/>
          <p:nvPr/>
        </p:nvPicPr>
        <p:blipFill rotWithShape="1">
          <a:blip r:embed="rId7">
            <a:alphaModFix/>
          </a:blip>
          <a:srcRect b="0" l="0" r="0" t="0"/>
          <a:stretch/>
        </p:blipFill>
        <p:spPr>
          <a:xfrm>
            <a:off x="4676775" y="2229891"/>
            <a:ext cx="485775" cy="428625"/>
          </a:xfrm>
          <a:prstGeom prst="rect">
            <a:avLst/>
          </a:prstGeom>
          <a:noFill/>
          <a:ln>
            <a:noFill/>
          </a:ln>
        </p:spPr>
      </p:pic>
      <p:pic>
        <p:nvPicPr>
          <p:cNvPr descr="image.png" id="135" name="Google Shape;135;p17"/>
          <p:cNvPicPr preferRelativeResize="0"/>
          <p:nvPr/>
        </p:nvPicPr>
        <p:blipFill rotWithShape="1">
          <a:blip r:embed="rId8">
            <a:alphaModFix/>
          </a:blip>
          <a:srcRect b="0" l="0" r="0" t="0"/>
          <a:stretch/>
        </p:blipFill>
        <p:spPr>
          <a:xfrm>
            <a:off x="8486775" y="2229891"/>
            <a:ext cx="533400" cy="428625"/>
          </a:xfrm>
          <a:prstGeom prst="rect">
            <a:avLst/>
          </a:prstGeom>
          <a:noFill/>
          <a:ln>
            <a:noFill/>
          </a:ln>
        </p:spPr>
      </p:pic>
      <p:sp>
        <p:nvSpPr>
          <p:cNvPr id="136" name="Google Shape;136;p17"/>
          <p:cNvSpPr txBox="1"/>
          <p:nvPr/>
        </p:nvSpPr>
        <p:spPr>
          <a:xfrm>
            <a:off x="571500" y="571500"/>
            <a:ext cx="11601450" cy="4667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000" u="none" cap="none" strike="noStrike">
                <a:solidFill>
                  <a:srgbClr val="F1F5F9"/>
                </a:solidFill>
                <a:latin typeface="Montserrat SemiBold"/>
                <a:ea typeface="Montserrat SemiBold"/>
                <a:cs typeface="Montserrat SemiBold"/>
                <a:sym typeface="Montserrat SemiBold"/>
              </a:rPr>
              <a:t>Foundational Services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93B"/>
        </a:solidFill>
      </p:bgPr>
    </p:bg>
    <p:spTree>
      <p:nvGrpSpPr>
        <p:cNvPr id="140" name="Shape 140"/>
        <p:cNvGrpSpPr/>
        <p:nvPr/>
      </p:nvGrpSpPr>
      <p:grpSpPr>
        <a:xfrm>
          <a:off x="0" y="0"/>
          <a:ext cx="0" cy="0"/>
          <a:chOff x="0" y="0"/>
          <a:chExt cx="0" cy="0"/>
        </a:xfrm>
      </p:grpSpPr>
      <p:pic>
        <p:nvPicPr>
          <p:cNvPr descr="image.png" id="141" name="Google Shape;141;p1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42" name="Google Shape;142;p18"/>
          <p:cNvPicPr preferRelativeResize="0"/>
          <p:nvPr/>
        </p:nvPicPr>
        <p:blipFill rotWithShape="1">
          <a:blip r:embed="rId4">
            <a:alphaModFix/>
          </a:blip>
          <a:srcRect b="0" l="0" r="0" t="0"/>
          <a:stretch/>
        </p:blipFill>
        <p:spPr>
          <a:xfrm>
            <a:off x="571500" y="1985516"/>
            <a:ext cx="5238750" cy="3734544"/>
          </a:xfrm>
          <a:prstGeom prst="rect">
            <a:avLst/>
          </a:prstGeom>
          <a:noFill/>
          <a:ln>
            <a:noFill/>
          </a:ln>
        </p:spPr>
      </p:pic>
      <p:pic>
        <p:nvPicPr>
          <p:cNvPr descr="image.png" id="143" name="Google Shape;143;p18"/>
          <p:cNvPicPr preferRelativeResize="0"/>
          <p:nvPr/>
        </p:nvPicPr>
        <p:blipFill rotWithShape="1">
          <a:blip r:embed="rId4">
            <a:alphaModFix/>
          </a:blip>
          <a:srcRect b="0" l="0" r="0" t="0"/>
          <a:stretch/>
        </p:blipFill>
        <p:spPr>
          <a:xfrm>
            <a:off x="6381750" y="1985516"/>
            <a:ext cx="5238750" cy="3734544"/>
          </a:xfrm>
          <a:prstGeom prst="rect">
            <a:avLst/>
          </a:prstGeom>
          <a:noFill/>
          <a:ln>
            <a:noFill/>
          </a:ln>
        </p:spPr>
      </p:pic>
      <p:sp>
        <p:nvSpPr>
          <p:cNvPr id="144" name="Google Shape;144;p18"/>
          <p:cNvSpPr txBox="1"/>
          <p:nvPr/>
        </p:nvSpPr>
        <p:spPr>
          <a:xfrm>
            <a:off x="962025" y="2471291"/>
            <a:ext cx="4680585" cy="3238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100" u="none" cap="none" strike="noStrike">
                <a:solidFill>
                  <a:srgbClr val="38BDF8"/>
                </a:solidFill>
                <a:latin typeface="Montserrat Medium"/>
                <a:ea typeface="Montserrat Medium"/>
                <a:cs typeface="Montserrat Medium"/>
                <a:sym typeface="Montserrat Medium"/>
              </a:rPr>
              <a:t>Proof of Concepts (PoC)</a:t>
            </a:r>
            <a:endParaRPr/>
          </a:p>
        </p:txBody>
      </p:sp>
      <p:sp>
        <p:nvSpPr>
          <p:cNvPr id="145" name="Google Shape;145;p18"/>
          <p:cNvSpPr txBox="1"/>
          <p:nvPr/>
        </p:nvSpPr>
        <p:spPr>
          <a:xfrm>
            <a:off x="962025" y="2938016"/>
            <a:ext cx="4457700" cy="2153394"/>
          </a:xfrm>
          <a:prstGeom prst="rect">
            <a:avLst/>
          </a:prstGeom>
          <a:noFill/>
          <a:ln>
            <a:noFill/>
          </a:ln>
        </p:spPr>
        <p:txBody>
          <a:bodyPr anchorCtr="0" anchor="t" bIns="0" lIns="0" spcFirstLastPara="1" rIns="0" wrap="square" tIns="0">
            <a:spAutoFit/>
          </a:bodyPr>
          <a:lstStyle/>
          <a:p>
            <a:pPr indent="0" lvl="0" marL="0" marR="0" rtl="0" algn="l">
              <a:lnSpc>
                <a:spcPct val="169964"/>
              </a:lnSpc>
              <a:spcBef>
                <a:spcPts val="0"/>
              </a:spcBef>
              <a:spcAft>
                <a:spcPts val="0"/>
              </a:spcAft>
              <a:buNone/>
            </a:pPr>
            <a:r>
              <a:rPr b="0" i="0" lang="en-US" sz="1425" u="none" cap="none" strike="noStrike">
                <a:solidFill>
                  <a:srgbClr val="94A3B8"/>
                </a:solidFill>
                <a:latin typeface="Inter"/>
                <a:ea typeface="Inter"/>
                <a:cs typeface="Inter"/>
                <a:sym typeface="Inter"/>
              </a:rPr>
              <a:t>Before committing to heavy enterprise-wide builds, we develop lightweight Proof of Concepts. This agile approach allows us to validate hypotheses, test user acceptance, and ensure the proposed technical architecture works in practical scenarios, thereby minimizing investment risk and accelerating deployment timelines.</a:t>
            </a:r>
            <a:endParaRPr/>
          </a:p>
        </p:txBody>
      </p:sp>
      <p:sp>
        <p:nvSpPr>
          <p:cNvPr id="146" name="Google Shape;146;p18"/>
          <p:cNvSpPr txBox="1"/>
          <p:nvPr/>
        </p:nvSpPr>
        <p:spPr>
          <a:xfrm>
            <a:off x="6772275" y="2471291"/>
            <a:ext cx="4680585" cy="3238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100" u="none" cap="none" strike="noStrike">
                <a:solidFill>
                  <a:srgbClr val="38BDF8"/>
                </a:solidFill>
                <a:latin typeface="Montserrat Medium"/>
                <a:ea typeface="Montserrat Medium"/>
                <a:cs typeface="Montserrat Medium"/>
                <a:sym typeface="Montserrat Medium"/>
              </a:rPr>
              <a:t>1-Page Matrices &amp; Visuals</a:t>
            </a:r>
            <a:endParaRPr/>
          </a:p>
        </p:txBody>
      </p:sp>
      <p:sp>
        <p:nvSpPr>
          <p:cNvPr id="147" name="Google Shape;147;p18"/>
          <p:cNvSpPr txBox="1"/>
          <p:nvPr/>
        </p:nvSpPr>
        <p:spPr>
          <a:xfrm>
            <a:off x="6772275" y="2938016"/>
            <a:ext cx="4457700" cy="2153394"/>
          </a:xfrm>
          <a:prstGeom prst="rect">
            <a:avLst/>
          </a:prstGeom>
          <a:noFill/>
          <a:ln>
            <a:noFill/>
          </a:ln>
        </p:spPr>
        <p:txBody>
          <a:bodyPr anchorCtr="0" anchor="t" bIns="0" lIns="0" spcFirstLastPara="1" rIns="0" wrap="square" tIns="0">
            <a:spAutoFit/>
          </a:bodyPr>
          <a:lstStyle/>
          <a:p>
            <a:pPr indent="0" lvl="0" marL="0" marR="0" rtl="0" algn="l">
              <a:lnSpc>
                <a:spcPct val="169964"/>
              </a:lnSpc>
              <a:spcBef>
                <a:spcPts val="0"/>
              </a:spcBef>
              <a:spcAft>
                <a:spcPts val="0"/>
              </a:spcAft>
              <a:buNone/>
            </a:pPr>
            <a:r>
              <a:rPr b="0" i="0" lang="en-US" sz="1425" u="none" cap="none" strike="noStrike">
                <a:solidFill>
                  <a:srgbClr val="94A3B8"/>
                </a:solidFill>
                <a:latin typeface="Inter"/>
                <a:ea typeface="Inter"/>
                <a:cs typeface="Inter"/>
                <a:sym typeface="Inter"/>
              </a:rPr>
              <a:t>Complex organizational workflows require immediately accessible references. We synthesize multi-page technical manuals and exhaustive process guides into highly scannable, 1-page matrices and infographics. This strategy drives immediate user adoption, reduces training friction, and standardizes execution across the agency.</a:t>
            </a:r>
            <a:endParaRPr/>
          </a:p>
        </p:txBody>
      </p:sp>
      <p:sp>
        <p:nvSpPr>
          <p:cNvPr id="148" name="Google Shape;148;p18"/>
          <p:cNvSpPr txBox="1"/>
          <p:nvPr/>
        </p:nvSpPr>
        <p:spPr>
          <a:xfrm>
            <a:off x="571500" y="571500"/>
            <a:ext cx="11601450" cy="4667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000" u="none" cap="none" strike="noStrike">
                <a:solidFill>
                  <a:srgbClr val="F1F5F9"/>
                </a:solidFill>
                <a:latin typeface="Montserrat SemiBold"/>
                <a:ea typeface="Montserrat SemiBold"/>
                <a:cs typeface="Montserrat SemiBold"/>
                <a:sym typeface="Montserrat SemiBold"/>
              </a:rPr>
              <a:t>Innovation &amp; Rapid Prototyping</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93B"/>
        </a:solidFill>
      </p:bgPr>
    </p:bg>
    <p:spTree>
      <p:nvGrpSpPr>
        <p:cNvPr id="152" name="Shape 152"/>
        <p:cNvGrpSpPr/>
        <p:nvPr/>
      </p:nvGrpSpPr>
      <p:grpSpPr>
        <a:xfrm>
          <a:off x="0" y="0"/>
          <a:ext cx="0" cy="0"/>
          <a:chOff x="0" y="0"/>
          <a:chExt cx="0" cy="0"/>
        </a:xfrm>
      </p:grpSpPr>
      <p:pic>
        <p:nvPicPr>
          <p:cNvPr descr="image.png" id="153" name="Google Shape;153;p19"/>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54" name="Google Shape;154;p19"/>
          <p:cNvSpPr txBox="1"/>
          <p:nvPr/>
        </p:nvSpPr>
        <p:spPr>
          <a:xfrm>
            <a:off x="571500" y="571500"/>
            <a:ext cx="5500687" cy="4667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000" u="none" cap="none" strike="noStrike">
                <a:solidFill>
                  <a:srgbClr val="F1F5F9"/>
                </a:solidFill>
                <a:latin typeface="Montserrat SemiBold"/>
                <a:ea typeface="Montserrat SemiBold"/>
                <a:cs typeface="Montserrat SemiBold"/>
                <a:sym typeface="Montserrat SemiBold"/>
              </a:rPr>
              <a:t>Enterprise Solutions</a:t>
            </a:r>
            <a:endParaRPr/>
          </a:p>
        </p:txBody>
      </p:sp>
      <p:pic>
        <p:nvPicPr>
          <p:cNvPr descr="image.png" id="155" name="Google Shape;155;p19"/>
          <p:cNvPicPr preferRelativeResize="0"/>
          <p:nvPr/>
        </p:nvPicPr>
        <p:blipFill rotWithShape="1">
          <a:blip r:embed="rId4">
            <a:alphaModFix/>
          </a:blip>
          <a:srcRect b="0" l="0" r="0" t="0"/>
          <a:stretch/>
        </p:blipFill>
        <p:spPr>
          <a:xfrm>
            <a:off x="6381750" y="0"/>
            <a:ext cx="5810250" cy="6858000"/>
          </a:xfrm>
          <a:prstGeom prst="rect">
            <a:avLst/>
          </a:prstGeom>
          <a:noFill/>
          <a:ln>
            <a:noFill/>
          </a:ln>
        </p:spPr>
      </p:pic>
      <p:sp>
        <p:nvSpPr>
          <p:cNvPr id="156" name="Google Shape;156;p19"/>
          <p:cNvSpPr txBox="1"/>
          <p:nvPr/>
        </p:nvSpPr>
        <p:spPr>
          <a:xfrm>
            <a:off x="571500" y="2279749"/>
            <a:ext cx="5500687" cy="419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700" u="none" cap="none" strike="noStrike">
                <a:solidFill>
                  <a:srgbClr val="38BDF8"/>
                </a:solidFill>
                <a:latin typeface="Montserrat Medium"/>
                <a:ea typeface="Montserrat Medium"/>
                <a:cs typeface="Montserrat Medium"/>
                <a:sym typeface="Montserrat Medium"/>
              </a:rPr>
              <a:t>Scaling Operations</a:t>
            </a:r>
            <a:endParaRPr/>
          </a:p>
        </p:txBody>
      </p:sp>
      <p:sp>
        <p:nvSpPr>
          <p:cNvPr id="157" name="Google Shape;157;p19"/>
          <p:cNvSpPr txBox="1"/>
          <p:nvPr/>
        </p:nvSpPr>
        <p:spPr>
          <a:xfrm>
            <a:off x="571500" y="2936974"/>
            <a:ext cx="5238750" cy="2346126"/>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650" u="none" cap="none" strike="noStrike">
                <a:solidFill>
                  <a:srgbClr val="F1F5F9"/>
                </a:solidFill>
                <a:latin typeface="Inter"/>
                <a:ea typeface="Inter"/>
                <a:cs typeface="Inter"/>
                <a:sym typeface="Inter"/>
              </a:rPr>
              <a:t>We transition manual, email-heavy routing into automated engines using Power Apps, Power Automate, and SharePoint. By digitizing priority mission support services within platforms like ServiceNow, we create centralized, trackable service hubs, complemented by advanced performance dashboards in Power BI and Tableau.</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93B"/>
        </a:solidFill>
      </p:bgPr>
    </p:bg>
    <p:spTree>
      <p:nvGrpSpPr>
        <p:cNvPr id="161" name="Shape 161"/>
        <p:cNvGrpSpPr/>
        <p:nvPr/>
      </p:nvGrpSpPr>
      <p:grpSpPr>
        <a:xfrm>
          <a:off x="0" y="0"/>
          <a:ext cx="0" cy="0"/>
          <a:chOff x="0" y="0"/>
          <a:chExt cx="0" cy="0"/>
        </a:xfrm>
      </p:grpSpPr>
      <p:pic>
        <p:nvPicPr>
          <p:cNvPr descr="image.png" id="162" name="Google Shape;162;p2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63" name="Google Shape;163;p20"/>
          <p:cNvSpPr/>
          <p:nvPr/>
        </p:nvSpPr>
        <p:spPr>
          <a:xfrm>
            <a:off x="5524500" y="2712690"/>
            <a:ext cx="1143000" cy="38100"/>
          </a:xfrm>
          <a:prstGeom prst="rect">
            <a:avLst/>
          </a:prstGeom>
          <a:solidFill>
            <a:srgbClr val="38BD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4" name="Google Shape;164;p20"/>
          <p:cNvSpPr txBox="1"/>
          <p:nvPr/>
        </p:nvSpPr>
        <p:spPr>
          <a:xfrm>
            <a:off x="3950731" y="3036540"/>
            <a:ext cx="4290536" cy="6953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4500" u="none" cap="none" strike="noStrike">
                <a:solidFill>
                  <a:srgbClr val="F1F5F9"/>
                </a:solidFill>
                <a:latin typeface="Montserrat SemiBold"/>
                <a:ea typeface="Montserrat SemiBold"/>
                <a:cs typeface="Montserrat SemiBold"/>
                <a:sym typeface="Montserrat SemiBold"/>
              </a:rPr>
              <a:t>How We Do It</a:t>
            </a:r>
            <a:endParaRPr/>
          </a:p>
        </p:txBody>
      </p:sp>
      <p:sp>
        <p:nvSpPr>
          <p:cNvPr id="165" name="Google Shape;165;p20"/>
          <p:cNvSpPr txBox="1"/>
          <p:nvPr/>
        </p:nvSpPr>
        <p:spPr>
          <a:xfrm>
            <a:off x="4405312" y="3922365"/>
            <a:ext cx="3381375" cy="365670"/>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None/>
            </a:pPr>
            <a:r>
              <a:rPr b="0" i="0" lang="en-US" sz="1800" u="none" cap="none" strike="noStrike">
                <a:solidFill>
                  <a:srgbClr val="94A3B8"/>
                </a:solidFill>
                <a:latin typeface="Inter"/>
                <a:ea typeface="Inter"/>
                <a:cs typeface="Inter"/>
                <a:sym typeface="Inter"/>
              </a:rPr>
              <a:t>Methodologies &amp; The CI Toolkit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93B"/>
        </a:solidFill>
      </p:bgPr>
    </p:bg>
    <p:spTree>
      <p:nvGrpSpPr>
        <p:cNvPr id="169" name="Shape 169"/>
        <p:cNvGrpSpPr/>
        <p:nvPr/>
      </p:nvGrpSpPr>
      <p:grpSpPr>
        <a:xfrm>
          <a:off x="0" y="0"/>
          <a:ext cx="0" cy="0"/>
          <a:chOff x="0" y="0"/>
          <a:chExt cx="0" cy="0"/>
        </a:xfrm>
      </p:grpSpPr>
      <p:pic>
        <p:nvPicPr>
          <p:cNvPr descr="image.png" id="170" name="Google Shape;170;p2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71" name="Google Shape;171;p21"/>
          <p:cNvSpPr txBox="1"/>
          <p:nvPr/>
        </p:nvSpPr>
        <p:spPr>
          <a:xfrm>
            <a:off x="1143000" y="1300757"/>
            <a:ext cx="8953500" cy="990302"/>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5EEAD4"/>
                </a:solidFill>
                <a:latin typeface="Inter SemiBold"/>
                <a:ea typeface="Inter SemiBold"/>
                <a:cs typeface="Inter SemiBold"/>
                <a:sym typeface="Inter SemiBold"/>
              </a:rPr>
              <a:t>Lean Six Sigma (LSS)</a:t>
            </a:r>
            <a:endParaRPr/>
          </a:p>
        </p:txBody>
      </p:sp>
      <p:sp>
        <p:nvSpPr>
          <p:cNvPr id="172" name="Google Shape;172;p21"/>
          <p:cNvSpPr txBox="1"/>
          <p:nvPr/>
        </p:nvSpPr>
        <p:spPr>
          <a:xfrm>
            <a:off x="1143000" y="2576810"/>
            <a:ext cx="8953500" cy="990302"/>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5EEAD4"/>
                </a:solidFill>
                <a:latin typeface="Inter SemiBold"/>
                <a:ea typeface="Inter SemiBold"/>
                <a:cs typeface="Inter SemiBold"/>
                <a:sym typeface="Inter SemiBold"/>
              </a:rPr>
              <a:t>Agile Delivery</a:t>
            </a:r>
            <a:endParaRPr/>
          </a:p>
        </p:txBody>
      </p:sp>
      <p:sp>
        <p:nvSpPr>
          <p:cNvPr id="173" name="Google Shape;173;p21"/>
          <p:cNvSpPr txBox="1"/>
          <p:nvPr/>
        </p:nvSpPr>
        <p:spPr>
          <a:xfrm>
            <a:off x="1143000" y="3852862"/>
            <a:ext cx="8953500" cy="990302"/>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5EEAD4"/>
                </a:solidFill>
                <a:latin typeface="Inter SemiBold"/>
                <a:ea typeface="Inter SemiBold"/>
                <a:cs typeface="Inter SemiBold"/>
                <a:sym typeface="Inter SemiBold"/>
              </a:rPr>
              <a:t>PDCA &amp; Kaizen Events</a:t>
            </a:r>
            <a:endParaRPr/>
          </a:p>
        </p:txBody>
      </p:sp>
      <p:sp>
        <p:nvSpPr>
          <p:cNvPr id="174" name="Google Shape;174;p21"/>
          <p:cNvSpPr txBox="1"/>
          <p:nvPr/>
        </p:nvSpPr>
        <p:spPr>
          <a:xfrm>
            <a:off x="1143000" y="5128914"/>
            <a:ext cx="8953500" cy="990302"/>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5EEAD4"/>
                </a:solidFill>
                <a:latin typeface="Inter SemiBold"/>
                <a:ea typeface="Inter SemiBold"/>
                <a:cs typeface="Inter SemiBold"/>
                <a:sym typeface="Inter SemiBold"/>
              </a:rPr>
              <a:t>BPM vs. BPR</a:t>
            </a:r>
            <a:endParaRPr/>
          </a:p>
        </p:txBody>
      </p:sp>
      <p:sp>
        <p:nvSpPr>
          <p:cNvPr id="175" name="Google Shape;175;p21"/>
          <p:cNvSpPr txBox="1"/>
          <p:nvPr/>
        </p:nvSpPr>
        <p:spPr>
          <a:xfrm>
            <a:off x="1143000" y="1712118"/>
            <a:ext cx="8953500" cy="578941"/>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94A3B8"/>
                </a:solidFill>
                <a:latin typeface="Inter"/>
                <a:ea typeface="Inter"/>
                <a:cs typeface="Inter"/>
                <a:sym typeface="Inter"/>
              </a:rPr>
              <a:t>Utilizing the robust DMAIC framework (Define, Measure, Analyze, Improve, Control) to systematically eliminate operational waste (Lean) and reduce output variation and errors (Six Sigma).</a:t>
            </a:r>
            <a:endParaRPr/>
          </a:p>
        </p:txBody>
      </p:sp>
      <p:sp>
        <p:nvSpPr>
          <p:cNvPr id="176" name="Google Shape;176;p21"/>
          <p:cNvSpPr txBox="1"/>
          <p:nvPr/>
        </p:nvSpPr>
        <p:spPr>
          <a:xfrm>
            <a:off x="1143000" y="2988171"/>
            <a:ext cx="8953500" cy="578941"/>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94A3B8"/>
                </a:solidFill>
                <a:latin typeface="Inter"/>
                <a:ea typeface="Inter"/>
                <a:cs typeface="Inter"/>
                <a:sym typeface="Inter"/>
              </a:rPr>
              <a:t>Moving away from traditional waterfall models, we leverage iterative sprints to deliver quick operational wins, adapt to immediate user feedback, and deploy functional solutions rapidly.</a:t>
            </a:r>
            <a:endParaRPr/>
          </a:p>
        </p:txBody>
      </p:sp>
      <p:sp>
        <p:nvSpPr>
          <p:cNvPr id="177" name="Google Shape;177;p21"/>
          <p:cNvSpPr txBox="1"/>
          <p:nvPr/>
        </p:nvSpPr>
        <p:spPr>
          <a:xfrm>
            <a:off x="1143000" y="4264223"/>
            <a:ext cx="8953500" cy="578941"/>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94A3B8"/>
                </a:solidFill>
                <a:latin typeface="Inter"/>
                <a:ea typeface="Inter"/>
                <a:cs typeface="Inter"/>
                <a:sym typeface="Inter"/>
              </a:rPr>
              <a:t>Embracing the Plan-Do-Check-Act cycle and focused Kaizen events to foster a cultural mindset where continuous feedback loops drive incremental, daily improvements at all levels.</a:t>
            </a:r>
            <a:endParaRPr/>
          </a:p>
        </p:txBody>
      </p:sp>
      <p:sp>
        <p:nvSpPr>
          <p:cNvPr id="178" name="Google Shape;178;p21"/>
          <p:cNvSpPr txBox="1"/>
          <p:nvPr/>
        </p:nvSpPr>
        <p:spPr>
          <a:xfrm>
            <a:off x="1143000" y="5540275"/>
            <a:ext cx="8953500" cy="578941"/>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94A3B8"/>
                </a:solidFill>
                <a:latin typeface="Inter"/>
                <a:ea typeface="Inter"/>
                <a:cs typeface="Inter"/>
                <a:sym typeface="Inter"/>
              </a:rPr>
              <a:t>Applying Business Process Management to optimize existing workflows, and Business Process Re-engineering when systems are fundamentally broken and require a complete structural rebuild.</a:t>
            </a:r>
            <a:endParaRPr/>
          </a:p>
        </p:txBody>
      </p:sp>
      <p:pic>
        <p:nvPicPr>
          <p:cNvPr descr="image.png" id="179" name="Google Shape;179;p21"/>
          <p:cNvPicPr preferRelativeResize="0"/>
          <p:nvPr/>
        </p:nvPicPr>
        <p:blipFill rotWithShape="1">
          <a:blip r:embed="rId4">
            <a:alphaModFix/>
          </a:blip>
          <a:srcRect b="0" l="0" r="0" t="0"/>
          <a:stretch/>
        </p:blipFill>
        <p:spPr>
          <a:xfrm>
            <a:off x="571500" y="1315045"/>
            <a:ext cx="266700" cy="276225"/>
          </a:xfrm>
          <a:prstGeom prst="rect">
            <a:avLst/>
          </a:prstGeom>
          <a:noFill/>
          <a:ln>
            <a:noFill/>
          </a:ln>
        </p:spPr>
      </p:pic>
      <p:pic>
        <p:nvPicPr>
          <p:cNvPr descr="image.png" id="180" name="Google Shape;180;p21"/>
          <p:cNvPicPr preferRelativeResize="0"/>
          <p:nvPr/>
        </p:nvPicPr>
        <p:blipFill rotWithShape="1">
          <a:blip r:embed="rId5">
            <a:alphaModFix/>
          </a:blip>
          <a:srcRect b="0" l="0" r="0" t="0"/>
          <a:stretch/>
        </p:blipFill>
        <p:spPr>
          <a:xfrm>
            <a:off x="571500" y="2591097"/>
            <a:ext cx="266700" cy="276225"/>
          </a:xfrm>
          <a:prstGeom prst="rect">
            <a:avLst/>
          </a:prstGeom>
          <a:noFill/>
          <a:ln>
            <a:noFill/>
          </a:ln>
        </p:spPr>
      </p:pic>
      <p:pic>
        <p:nvPicPr>
          <p:cNvPr descr="image.png" id="181" name="Google Shape;181;p21"/>
          <p:cNvPicPr preferRelativeResize="0"/>
          <p:nvPr/>
        </p:nvPicPr>
        <p:blipFill rotWithShape="1">
          <a:blip r:embed="rId6">
            <a:alphaModFix/>
          </a:blip>
          <a:srcRect b="0" l="0" r="0" t="0"/>
          <a:stretch/>
        </p:blipFill>
        <p:spPr>
          <a:xfrm>
            <a:off x="571500" y="3867150"/>
            <a:ext cx="266700" cy="276225"/>
          </a:xfrm>
          <a:prstGeom prst="rect">
            <a:avLst/>
          </a:prstGeom>
          <a:noFill/>
          <a:ln>
            <a:noFill/>
          </a:ln>
        </p:spPr>
      </p:pic>
      <p:pic>
        <p:nvPicPr>
          <p:cNvPr descr="image.png" id="182" name="Google Shape;182;p21"/>
          <p:cNvPicPr preferRelativeResize="0"/>
          <p:nvPr/>
        </p:nvPicPr>
        <p:blipFill rotWithShape="1">
          <a:blip r:embed="rId7">
            <a:alphaModFix/>
          </a:blip>
          <a:srcRect b="0" l="0" r="0" t="0"/>
          <a:stretch/>
        </p:blipFill>
        <p:spPr>
          <a:xfrm>
            <a:off x="571500" y="5143202"/>
            <a:ext cx="333375" cy="276225"/>
          </a:xfrm>
          <a:prstGeom prst="rect">
            <a:avLst/>
          </a:prstGeom>
          <a:noFill/>
          <a:ln>
            <a:noFill/>
          </a:ln>
        </p:spPr>
      </p:pic>
      <p:sp>
        <p:nvSpPr>
          <p:cNvPr id="183" name="Google Shape;183;p21"/>
          <p:cNvSpPr txBox="1"/>
          <p:nvPr/>
        </p:nvSpPr>
        <p:spPr>
          <a:xfrm>
            <a:off x="571500" y="453032"/>
            <a:ext cx="11601450" cy="4667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000" u="none" cap="none" strike="noStrike">
                <a:solidFill>
                  <a:srgbClr val="F1F5F9"/>
                </a:solidFill>
                <a:latin typeface="Montserrat SemiBold"/>
                <a:ea typeface="Montserrat SemiBold"/>
                <a:cs typeface="Montserrat SemiBold"/>
                <a:sym typeface="Montserrat SemiBold"/>
              </a:rPr>
              <a:t>Frameworks Driving Change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93B"/>
        </a:solidFill>
      </p:bgPr>
    </p:bg>
    <p:spTree>
      <p:nvGrpSpPr>
        <p:cNvPr id="187" name="Shape 187"/>
        <p:cNvGrpSpPr/>
        <p:nvPr/>
      </p:nvGrpSpPr>
      <p:grpSpPr>
        <a:xfrm>
          <a:off x="0" y="0"/>
          <a:ext cx="0" cy="0"/>
          <a:chOff x="0" y="0"/>
          <a:chExt cx="0" cy="0"/>
        </a:xfrm>
      </p:grpSpPr>
      <p:pic>
        <p:nvPicPr>
          <p:cNvPr descr="image.png" id="188" name="Google Shape;188;p22"/>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89" name="Google Shape;189;p22"/>
          <p:cNvPicPr preferRelativeResize="0"/>
          <p:nvPr/>
        </p:nvPicPr>
        <p:blipFill rotWithShape="1">
          <a:blip r:embed="rId4">
            <a:alphaModFix/>
          </a:blip>
          <a:srcRect b="0" l="0" r="0" t="0"/>
          <a:stretch/>
        </p:blipFill>
        <p:spPr>
          <a:xfrm>
            <a:off x="571500" y="1791741"/>
            <a:ext cx="3429000" cy="4122241"/>
          </a:xfrm>
          <a:prstGeom prst="rect">
            <a:avLst/>
          </a:prstGeom>
          <a:noFill/>
          <a:ln>
            <a:noFill/>
          </a:ln>
        </p:spPr>
      </p:pic>
      <p:pic>
        <p:nvPicPr>
          <p:cNvPr descr="image.png" id="190" name="Google Shape;190;p22"/>
          <p:cNvPicPr preferRelativeResize="0"/>
          <p:nvPr/>
        </p:nvPicPr>
        <p:blipFill rotWithShape="1">
          <a:blip r:embed="rId5">
            <a:alphaModFix/>
          </a:blip>
          <a:srcRect b="0" l="0" r="0" t="0"/>
          <a:stretch/>
        </p:blipFill>
        <p:spPr>
          <a:xfrm>
            <a:off x="4381500" y="1791741"/>
            <a:ext cx="3429000" cy="4122241"/>
          </a:xfrm>
          <a:prstGeom prst="rect">
            <a:avLst/>
          </a:prstGeom>
          <a:noFill/>
          <a:ln>
            <a:noFill/>
          </a:ln>
        </p:spPr>
      </p:pic>
      <p:pic>
        <p:nvPicPr>
          <p:cNvPr descr="image.png" id="191" name="Google Shape;191;p22"/>
          <p:cNvPicPr preferRelativeResize="0"/>
          <p:nvPr/>
        </p:nvPicPr>
        <p:blipFill rotWithShape="1">
          <a:blip r:embed="rId5">
            <a:alphaModFix/>
          </a:blip>
          <a:srcRect b="0" l="0" r="0" t="0"/>
          <a:stretch/>
        </p:blipFill>
        <p:spPr>
          <a:xfrm>
            <a:off x="8191500" y="1791741"/>
            <a:ext cx="3429000" cy="4122241"/>
          </a:xfrm>
          <a:prstGeom prst="rect">
            <a:avLst/>
          </a:prstGeom>
          <a:noFill/>
          <a:ln>
            <a:noFill/>
          </a:ln>
        </p:spPr>
      </p:pic>
      <p:sp>
        <p:nvSpPr>
          <p:cNvPr id="192" name="Google Shape;192;p22"/>
          <p:cNvSpPr txBox="1"/>
          <p:nvPr/>
        </p:nvSpPr>
        <p:spPr>
          <a:xfrm>
            <a:off x="866775" y="2944266"/>
            <a:ext cx="2360295" cy="3238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100" u="none" cap="none" strike="noStrike">
                <a:solidFill>
                  <a:srgbClr val="38BDF8"/>
                </a:solidFill>
                <a:latin typeface="Montserrat Medium"/>
                <a:ea typeface="Montserrat Medium"/>
                <a:cs typeface="Montserrat Medium"/>
                <a:sym typeface="Montserrat Medium"/>
              </a:rPr>
              <a:t>SIPOC Diagrams</a:t>
            </a:r>
            <a:endParaRPr/>
          </a:p>
        </p:txBody>
      </p:sp>
      <p:sp>
        <p:nvSpPr>
          <p:cNvPr id="193" name="Google Shape;193;p22"/>
          <p:cNvSpPr txBox="1"/>
          <p:nvPr/>
        </p:nvSpPr>
        <p:spPr>
          <a:xfrm>
            <a:off x="866775" y="3410991"/>
            <a:ext cx="2838450" cy="164574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94A3B8"/>
                </a:solidFill>
                <a:latin typeface="Inter"/>
                <a:ea typeface="Inter"/>
                <a:cs typeface="Inter"/>
                <a:sym typeface="Inter"/>
              </a:rPr>
              <a:t>Defining Suppliers, Inputs, Process, Outputs, and Customers at the onset of engagements to establish clear project boundaries and prevent detrimental scope creep.</a:t>
            </a:r>
            <a:endParaRPr/>
          </a:p>
        </p:txBody>
      </p:sp>
      <p:sp>
        <p:nvSpPr>
          <p:cNvPr id="194" name="Google Shape;194;p22"/>
          <p:cNvSpPr txBox="1"/>
          <p:nvPr/>
        </p:nvSpPr>
        <p:spPr>
          <a:xfrm>
            <a:off x="4676775" y="2944266"/>
            <a:ext cx="2980372" cy="647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100" u="none" cap="none" strike="noStrike">
                <a:solidFill>
                  <a:srgbClr val="38BDF8"/>
                </a:solidFill>
                <a:latin typeface="Montserrat Medium"/>
                <a:ea typeface="Montserrat Medium"/>
                <a:cs typeface="Montserrat Medium"/>
                <a:sym typeface="Montserrat Medium"/>
              </a:rPr>
              <a:t>Value Stream Mapping</a:t>
            </a:r>
            <a:endParaRPr/>
          </a:p>
        </p:txBody>
      </p:sp>
      <p:sp>
        <p:nvSpPr>
          <p:cNvPr id="195" name="Google Shape;195;p22"/>
          <p:cNvSpPr txBox="1"/>
          <p:nvPr/>
        </p:nvSpPr>
        <p:spPr>
          <a:xfrm>
            <a:off x="4676775" y="3734841"/>
            <a:ext cx="2838450" cy="164574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94A3B8"/>
                </a:solidFill>
                <a:latin typeface="Inter"/>
                <a:ea typeface="Inter"/>
                <a:cs typeface="Inter"/>
                <a:sym typeface="Inter"/>
              </a:rPr>
              <a:t>Visually mapping every single step of a workflow to meticulously expose hidden bottlenecks, redundant approvals, and non-value-add wait times in the current state.</a:t>
            </a:r>
            <a:endParaRPr/>
          </a:p>
        </p:txBody>
      </p:sp>
      <p:sp>
        <p:nvSpPr>
          <p:cNvPr id="196" name="Google Shape;196;p22"/>
          <p:cNvSpPr txBox="1"/>
          <p:nvPr/>
        </p:nvSpPr>
        <p:spPr>
          <a:xfrm>
            <a:off x="8486775" y="2944266"/>
            <a:ext cx="2000250" cy="3238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100" u="none" cap="none" strike="noStrike">
                <a:solidFill>
                  <a:srgbClr val="38BDF8"/>
                </a:solidFill>
                <a:latin typeface="Montserrat Medium"/>
                <a:ea typeface="Montserrat Medium"/>
                <a:cs typeface="Montserrat Medium"/>
                <a:sym typeface="Montserrat Medium"/>
              </a:rPr>
              <a:t>RACI Matrices</a:t>
            </a:r>
            <a:endParaRPr/>
          </a:p>
        </p:txBody>
      </p:sp>
      <p:sp>
        <p:nvSpPr>
          <p:cNvPr id="197" name="Google Shape;197;p22"/>
          <p:cNvSpPr txBox="1"/>
          <p:nvPr/>
        </p:nvSpPr>
        <p:spPr>
          <a:xfrm>
            <a:off x="8486775" y="3410991"/>
            <a:ext cx="2838450" cy="137145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94A3B8"/>
                </a:solidFill>
                <a:latin typeface="Inter"/>
                <a:ea typeface="Inter"/>
                <a:cs typeface="Inter"/>
                <a:sym typeface="Inter"/>
              </a:rPr>
              <a:t>Establishing strict governance and role clarity by definitively identifying who is Responsible, Accountable, Consulted, and Informed for every process action.</a:t>
            </a:r>
            <a:endParaRPr/>
          </a:p>
        </p:txBody>
      </p:sp>
      <p:pic>
        <p:nvPicPr>
          <p:cNvPr descr="image.png" id="198" name="Google Shape;198;p22"/>
          <p:cNvPicPr preferRelativeResize="0"/>
          <p:nvPr/>
        </p:nvPicPr>
        <p:blipFill rotWithShape="1">
          <a:blip r:embed="rId6">
            <a:alphaModFix/>
          </a:blip>
          <a:srcRect b="0" l="0" r="0" t="0"/>
          <a:stretch/>
        </p:blipFill>
        <p:spPr>
          <a:xfrm>
            <a:off x="866775" y="2229891"/>
            <a:ext cx="485775" cy="428625"/>
          </a:xfrm>
          <a:prstGeom prst="rect">
            <a:avLst/>
          </a:prstGeom>
          <a:noFill/>
          <a:ln>
            <a:noFill/>
          </a:ln>
        </p:spPr>
      </p:pic>
      <p:pic>
        <p:nvPicPr>
          <p:cNvPr descr="image.png" id="199" name="Google Shape;199;p22"/>
          <p:cNvPicPr preferRelativeResize="0"/>
          <p:nvPr/>
        </p:nvPicPr>
        <p:blipFill rotWithShape="1">
          <a:blip r:embed="rId7">
            <a:alphaModFix/>
          </a:blip>
          <a:srcRect b="0" l="0" r="0" t="0"/>
          <a:stretch/>
        </p:blipFill>
        <p:spPr>
          <a:xfrm>
            <a:off x="4676775" y="2229891"/>
            <a:ext cx="428625" cy="428625"/>
          </a:xfrm>
          <a:prstGeom prst="rect">
            <a:avLst/>
          </a:prstGeom>
          <a:noFill/>
          <a:ln>
            <a:noFill/>
          </a:ln>
        </p:spPr>
      </p:pic>
      <p:pic>
        <p:nvPicPr>
          <p:cNvPr descr="image.png" id="200" name="Google Shape;200;p22"/>
          <p:cNvPicPr preferRelativeResize="0"/>
          <p:nvPr/>
        </p:nvPicPr>
        <p:blipFill rotWithShape="1">
          <a:blip r:embed="rId8">
            <a:alphaModFix/>
          </a:blip>
          <a:srcRect b="0" l="0" r="0" t="0"/>
          <a:stretch/>
        </p:blipFill>
        <p:spPr>
          <a:xfrm>
            <a:off x="8486775" y="2229891"/>
            <a:ext cx="485775" cy="428625"/>
          </a:xfrm>
          <a:prstGeom prst="rect">
            <a:avLst/>
          </a:prstGeom>
          <a:noFill/>
          <a:ln>
            <a:noFill/>
          </a:ln>
        </p:spPr>
      </p:pic>
      <p:sp>
        <p:nvSpPr>
          <p:cNvPr id="201" name="Google Shape;201;p22"/>
          <p:cNvSpPr txBox="1"/>
          <p:nvPr/>
        </p:nvSpPr>
        <p:spPr>
          <a:xfrm>
            <a:off x="571500" y="571500"/>
            <a:ext cx="11601450" cy="4667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000" u="none" cap="none" strike="noStrike">
                <a:solidFill>
                  <a:srgbClr val="F1F5F9"/>
                </a:solidFill>
                <a:latin typeface="Montserrat SemiBold"/>
                <a:ea typeface="Montserrat SemiBold"/>
                <a:cs typeface="Montserrat SemiBold"/>
                <a:sym typeface="Montserrat SemiBold"/>
              </a:rPr>
              <a:t>The CI Toolkit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93B"/>
        </a:solidFill>
      </p:bgPr>
    </p:bg>
    <p:spTree>
      <p:nvGrpSpPr>
        <p:cNvPr id="205" name="Shape 205"/>
        <p:cNvGrpSpPr/>
        <p:nvPr/>
      </p:nvGrpSpPr>
      <p:grpSpPr>
        <a:xfrm>
          <a:off x="0" y="0"/>
          <a:ext cx="0" cy="0"/>
          <a:chOff x="0" y="0"/>
          <a:chExt cx="0" cy="0"/>
        </a:xfrm>
      </p:grpSpPr>
      <p:pic>
        <p:nvPicPr>
          <p:cNvPr descr="image.png" id="206" name="Google Shape;206;p2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07" name="Google Shape;207;p23"/>
          <p:cNvSpPr/>
          <p:nvPr/>
        </p:nvSpPr>
        <p:spPr>
          <a:xfrm>
            <a:off x="5524500" y="2712690"/>
            <a:ext cx="1143000" cy="38100"/>
          </a:xfrm>
          <a:prstGeom prst="rect">
            <a:avLst/>
          </a:prstGeom>
          <a:solidFill>
            <a:srgbClr val="38BD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8" name="Google Shape;208;p23"/>
          <p:cNvSpPr txBox="1"/>
          <p:nvPr/>
        </p:nvSpPr>
        <p:spPr>
          <a:xfrm>
            <a:off x="3820715" y="3036540"/>
            <a:ext cx="4550568" cy="6953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4500" u="none" cap="none" strike="noStrike">
                <a:solidFill>
                  <a:srgbClr val="F1F5F9"/>
                </a:solidFill>
                <a:latin typeface="Montserrat SemiBold"/>
                <a:ea typeface="Montserrat SemiBold"/>
                <a:cs typeface="Montserrat SemiBold"/>
                <a:sym typeface="Montserrat SemiBold"/>
              </a:rPr>
              <a:t>Why It Matters</a:t>
            </a:r>
            <a:endParaRPr/>
          </a:p>
        </p:txBody>
      </p:sp>
      <p:sp>
        <p:nvSpPr>
          <p:cNvPr id="209" name="Google Shape;209;p23"/>
          <p:cNvSpPr txBox="1"/>
          <p:nvPr/>
        </p:nvSpPr>
        <p:spPr>
          <a:xfrm>
            <a:off x="4052887" y="3922365"/>
            <a:ext cx="4086225" cy="365670"/>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None/>
            </a:pPr>
            <a:r>
              <a:rPr b="0" i="0" lang="en-US" sz="1800" u="none" cap="none" strike="noStrike">
                <a:solidFill>
                  <a:srgbClr val="94A3B8"/>
                </a:solidFill>
                <a:latin typeface="Inter"/>
                <a:ea typeface="Inter"/>
                <a:cs typeface="Inter"/>
                <a:sym typeface="Inter"/>
              </a:rPr>
              <a:t>Measurable Impact &amp; Success Stories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93B"/>
        </a:solidFill>
      </p:bgPr>
    </p:bg>
    <p:spTree>
      <p:nvGrpSpPr>
        <p:cNvPr id="213" name="Shape 213"/>
        <p:cNvGrpSpPr/>
        <p:nvPr/>
      </p:nvGrpSpPr>
      <p:grpSpPr>
        <a:xfrm>
          <a:off x="0" y="0"/>
          <a:ext cx="0" cy="0"/>
          <a:chOff x="0" y="0"/>
          <a:chExt cx="0" cy="0"/>
        </a:xfrm>
      </p:grpSpPr>
      <p:pic>
        <p:nvPicPr>
          <p:cNvPr descr="image.png" id="214" name="Google Shape;214;p2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15" name="Google Shape;215;p24"/>
          <p:cNvSpPr txBox="1"/>
          <p:nvPr/>
        </p:nvSpPr>
        <p:spPr>
          <a:xfrm>
            <a:off x="2152650" y="2786062"/>
            <a:ext cx="2076450" cy="17145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3500" u="none" cap="none" strike="noStrike">
                <a:solidFill>
                  <a:srgbClr val="38BDF8"/>
                </a:solidFill>
                <a:latin typeface="Montserrat"/>
                <a:ea typeface="Montserrat"/>
                <a:cs typeface="Montserrat"/>
                <a:sym typeface="Montserrat"/>
              </a:rPr>
              <a:t>27</a:t>
            </a:r>
            <a:endParaRPr/>
          </a:p>
        </p:txBody>
      </p:sp>
      <p:sp>
        <p:nvSpPr>
          <p:cNvPr id="216" name="Google Shape;216;p24"/>
          <p:cNvSpPr txBox="1"/>
          <p:nvPr/>
        </p:nvSpPr>
        <p:spPr>
          <a:xfrm>
            <a:off x="1557337" y="4595812"/>
            <a:ext cx="3267075" cy="3238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2100" u="none" cap="none" strike="noStrike">
                <a:solidFill>
                  <a:srgbClr val="F1F5F9"/>
                </a:solidFill>
                <a:latin typeface="Inter SemiBold"/>
                <a:ea typeface="Inter SemiBold"/>
                <a:cs typeface="Inter SemiBold"/>
                <a:sym typeface="Inter SemiBold"/>
              </a:rPr>
              <a:t>Mission Support Services</a:t>
            </a:r>
            <a:endParaRPr/>
          </a:p>
        </p:txBody>
      </p:sp>
      <p:sp>
        <p:nvSpPr>
          <p:cNvPr id="217" name="Google Shape;217;p24"/>
          <p:cNvSpPr txBox="1"/>
          <p:nvPr/>
        </p:nvSpPr>
        <p:spPr>
          <a:xfrm>
            <a:off x="6381750" y="1781472"/>
            <a:ext cx="5500687" cy="3238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100" u="none" cap="none" strike="noStrike">
                <a:solidFill>
                  <a:srgbClr val="38BDF8"/>
                </a:solidFill>
                <a:latin typeface="Montserrat Medium"/>
                <a:ea typeface="Montserrat Medium"/>
                <a:cs typeface="Montserrat Medium"/>
                <a:sym typeface="Montserrat Medium"/>
              </a:rPr>
              <a:t>Centralizing Service Delivery</a:t>
            </a:r>
            <a:endParaRPr/>
          </a:p>
        </p:txBody>
      </p:sp>
      <p:sp>
        <p:nvSpPr>
          <p:cNvPr id="218" name="Google Shape;218;p24"/>
          <p:cNvSpPr txBox="1"/>
          <p:nvPr/>
        </p:nvSpPr>
        <p:spPr>
          <a:xfrm>
            <a:off x="6381750" y="2248197"/>
            <a:ext cx="5238750" cy="1919882"/>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75" u="none" cap="none" strike="noStrike">
                <a:solidFill>
                  <a:srgbClr val="94A3B8"/>
                </a:solidFill>
                <a:latin typeface="Inter"/>
                <a:ea typeface="Inter"/>
                <a:cs typeface="Inter"/>
                <a:sym typeface="Inter"/>
              </a:rPr>
              <a:t>By partnering aggressively across departments, we successfully spearheaded the digitization of 27 priority mission support services within the ServiceNow platform. This massive effort centralized previously fragmented, untrackable requests into distinct service offerings.</a:t>
            </a:r>
            <a:endParaRPr/>
          </a:p>
        </p:txBody>
      </p:sp>
      <p:sp>
        <p:nvSpPr>
          <p:cNvPr id="219" name="Google Shape;219;p24"/>
          <p:cNvSpPr txBox="1"/>
          <p:nvPr/>
        </p:nvSpPr>
        <p:spPr>
          <a:xfrm>
            <a:off x="6381750" y="4501455"/>
            <a:ext cx="5238750" cy="127992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75" u="none" cap="none" strike="noStrike">
                <a:solidFill>
                  <a:srgbClr val="94A3B8"/>
                </a:solidFill>
                <a:latin typeface="Inter"/>
                <a:ea typeface="Inter"/>
                <a:cs typeface="Inter"/>
                <a:sym typeface="Inter"/>
              </a:rPr>
              <a:t>Furthermore, 12 specific offerings are strictly targeted for completion by fiscal year-end, establishing enhanced accountability, transparent SLA tracking, and reliable performance metrics for agency leadership.</a:t>
            </a:r>
            <a:endParaRPr/>
          </a:p>
        </p:txBody>
      </p:sp>
      <p:sp>
        <p:nvSpPr>
          <p:cNvPr id="220" name="Google Shape;220;p24"/>
          <p:cNvSpPr txBox="1"/>
          <p:nvPr/>
        </p:nvSpPr>
        <p:spPr>
          <a:xfrm>
            <a:off x="571500" y="571500"/>
            <a:ext cx="11601450" cy="4667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000" u="none" cap="none" strike="noStrike">
                <a:solidFill>
                  <a:srgbClr val="F1F5F9"/>
                </a:solidFill>
                <a:latin typeface="Montserrat SemiBold"/>
                <a:ea typeface="Montserrat SemiBold"/>
                <a:cs typeface="Montserrat SemiBold"/>
                <a:sym typeface="Montserrat SemiBold"/>
              </a:rPr>
              <a:t>Enterprise Service Impact</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93B"/>
        </a:solidFill>
      </p:bgPr>
    </p:bg>
    <p:spTree>
      <p:nvGrpSpPr>
        <p:cNvPr id="224" name="Shape 224"/>
        <p:cNvGrpSpPr/>
        <p:nvPr/>
      </p:nvGrpSpPr>
      <p:grpSpPr>
        <a:xfrm>
          <a:off x="0" y="0"/>
          <a:ext cx="0" cy="0"/>
          <a:chOff x="0" y="0"/>
          <a:chExt cx="0" cy="0"/>
        </a:xfrm>
      </p:grpSpPr>
      <p:pic>
        <p:nvPicPr>
          <p:cNvPr descr="image.png" id="225" name="Google Shape;225;p2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26" name="Google Shape;226;p25"/>
          <p:cNvPicPr preferRelativeResize="0"/>
          <p:nvPr/>
        </p:nvPicPr>
        <p:blipFill rotWithShape="1">
          <a:blip r:embed="rId4">
            <a:alphaModFix/>
          </a:blip>
          <a:srcRect b="0" l="0" r="0" t="0"/>
          <a:stretch/>
        </p:blipFill>
        <p:spPr>
          <a:xfrm>
            <a:off x="571500" y="1867048"/>
            <a:ext cx="3429000" cy="3971627"/>
          </a:xfrm>
          <a:prstGeom prst="rect">
            <a:avLst/>
          </a:prstGeom>
          <a:noFill/>
          <a:ln>
            <a:noFill/>
          </a:ln>
        </p:spPr>
      </p:pic>
      <p:pic>
        <p:nvPicPr>
          <p:cNvPr descr="image.png" id="227" name="Google Shape;227;p25"/>
          <p:cNvPicPr preferRelativeResize="0"/>
          <p:nvPr/>
        </p:nvPicPr>
        <p:blipFill rotWithShape="1">
          <a:blip r:embed="rId5">
            <a:alphaModFix/>
          </a:blip>
          <a:srcRect b="0" l="0" r="0" t="0"/>
          <a:stretch/>
        </p:blipFill>
        <p:spPr>
          <a:xfrm>
            <a:off x="4381500" y="1867048"/>
            <a:ext cx="3429000" cy="3971627"/>
          </a:xfrm>
          <a:prstGeom prst="rect">
            <a:avLst/>
          </a:prstGeom>
          <a:noFill/>
          <a:ln>
            <a:noFill/>
          </a:ln>
        </p:spPr>
      </p:pic>
      <p:pic>
        <p:nvPicPr>
          <p:cNvPr descr="image.png" id="228" name="Google Shape;228;p25"/>
          <p:cNvPicPr preferRelativeResize="0"/>
          <p:nvPr/>
        </p:nvPicPr>
        <p:blipFill rotWithShape="1">
          <a:blip r:embed="rId5">
            <a:alphaModFix/>
          </a:blip>
          <a:srcRect b="0" l="0" r="0" t="0"/>
          <a:stretch/>
        </p:blipFill>
        <p:spPr>
          <a:xfrm>
            <a:off x="8191500" y="1867048"/>
            <a:ext cx="3429000" cy="3971627"/>
          </a:xfrm>
          <a:prstGeom prst="rect">
            <a:avLst/>
          </a:prstGeom>
          <a:noFill/>
          <a:ln>
            <a:noFill/>
          </a:ln>
        </p:spPr>
      </p:pic>
      <p:pic>
        <p:nvPicPr>
          <p:cNvPr descr="image.png" id="229" name="Google Shape;229;p25"/>
          <p:cNvPicPr preferRelativeResize="0"/>
          <p:nvPr/>
        </p:nvPicPr>
        <p:blipFill rotWithShape="1">
          <a:blip r:embed="rId6">
            <a:alphaModFix/>
          </a:blip>
          <a:srcRect b="0" l="0" r="0" t="0"/>
          <a:stretch/>
        </p:blipFill>
        <p:spPr>
          <a:xfrm>
            <a:off x="581025" y="1876573"/>
            <a:ext cx="3409950" cy="1905000"/>
          </a:xfrm>
          <a:prstGeom prst="rect">
            <a:avLst/>
          </a:prstGeom>
          <a:noFill/>
          <a:ln>
            <a:noFill/>
          </a:ln>
        </p:spPr>
      </p:pic>
      <p:sp>
        <p:nvSpPr>
          <p:cNvPr id="230" name="Google Shape;230;p25"/>
          <p:cNvSpPr txBox="1"/>
          <p:nvPr/>
        </p:nvSpPr>
        <p:spPr>
          <a:xfrm>
            <a:off x="819150" y="4019698"/>
            <a:ext cx="3080385" cy="2571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650" u="none" cap="none" strike="noStrike">
                <a:solidFill>
                  <a:srgbClr val="38BDF8"/>
                </a:solidFill>
                <a:latin typeface="Montserrat Medium"/>
                <a:ea typeface="Montserrat Medium"/>
                <a:cs typeface="Montserrat Medium"/>
                <a:sym typeface="Montserrat Medium"/>
              </a:rPr>
              <a:t>DD254 Workflow</a:t>
            </a:r>
            <a:endParaRPr/>
          </a:p>
        </p:txBody>
      </p:sp>
      <p:sp>
        <p:nvSpPr>
          <p:cNvPr id="231" name="Google Shape;231;p25"/>
          <p:cNvSpPr txBox="1"/>
          <p:nvPr/>
        </p:nvSpPr>
        <p:spPr>
          <a:xfrm>
            <a:off x="819150" y="4372123"/>
            <a:ext cx="2933700" cy="97512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94A3B8"/>
                </a:solidFill>
                <a:latin typeface="Inter"/>
                <a:ea typeface="Inter"/>
                <a:cs typeface="Inter"/>
                <a:sym typeface="Inter"/>
              </a:rPr>
              <a:t>Re-engineered heavy documentation routing by implementing a sophisticated hybrid architecture utilizing Power Apps and SharePoint co-authoring libraries.</a:t>
            </a:r>
            <a:endParaRPr/>
          </a:p>
        </p:txBody>
      </p:sp>
      <p:pic>
        <p:nvPicPr>
          <p:cNvPr descr="image.png" id="232" name="Google Shape;232;p25"/>
          <p:cNvPicPr preferRelativeResize="0"/>
          <p:nvPr/>
        </p:nvPicPr>
        <p:blipFill rotWithShape="1">
          <a:blip r:embed="rId7">
            <a:alphaModFix/>
          </a:blip>
          <a:srcRect b="0" l="0" r="0" t="0"/>
          <a:stretch/>
        </p:blipFill>
        <p:spPr>
          <a:xfrm>
            <a:off x="4391025" y="1876573"/>
            <a:ext cx="3409950" cy="1905000"/>
          </a:xfrm>
          <a:prstGeom prst="rect">
            <a:avLst/>
          </a:prstGeom>
          <a:noFill/>
          <a:ln>
            <a:noFill/>
          </a:ln>
        </p:spPr>
      </p:pic>
      <p:sp>
        <p:nvSpPr>
          <p:cNvPr id="233" name="Google Shape;233;p25"/>
          <p:cNvSpPr txBox="1"/>
          <p:nvPr/>
        </p:nvSpPr>
        <p:spPr>
          <a:xfrm>
            <a:off x="4629150" y="4019698"/>
            <a:ext cx="3080385" cy="2571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650" u="none" cap="none" strike="noStrike">
                <a:solidFill>
                  <a:srgbClr val="38BDF8"/>
                </a:solidFill>
                <a:latin typeface="Montserrat Medium"/>
                <a:ea typeface="Montserrat Medium"/>
                <a:cs typeface="Montserrat Medium"/>
                <a:sym typeface="Montserrat Medium"/>
              </a:rPr>
              <a:t>Agency COR Program</a:t>
            </a:r>
            <a:endParaRPr/>
          </a:p>
        </p:txBody>
      </p:sp>
      <p:sp>
        <p:nvSpPr>
          <p:cNvPr id="234" name="Google Shape;234;p25"/>
          <p:cNvSpPr txBox="1"/>
          <p:nvPr/>
        </p:nvSpPr>
        <p:spPr>
          <a:xfrm>
            <a:off x="4629150" y="4372123"/>
            <a:ext cx="2933700" cy="1218902"/>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94A3B8"/>
                </a:solidFill>
                <a:latin typeface="Inter"/>
                <a:ea typeface="Inter"/>
                <a:cs typeface="Inter"/>
                <a:sym typeface="Inter"/>
              </a:rPr>
              <a:t>Developed a comprehensive program infrastructure utilizing integrated knowledge management, interactive simulation environments, and structured role assessments.</a:t>
            </a:r>
            <a:endParaRPr/>
          </a:p>
        </p:txBody>
      </p:sp>
      <p:pic>
        <p:nvPicPr>
          <p:cNvPr descr="image.png" id="235" name="Google Shape;235;p25"/>
          <p:cNvPicPr preferRelativeResize="0"/>
          <p:nvPr/>
        </p:nvPicPr>
        <p:blipFill rotWithShape="1">
          <a:blip r:embed="rId8">
            <a:alphaModFix/>
          </a:blip>
          <a:srcRect b="0" l="0" r="0" t="0"/>
          <a:stretch/>
        </p:blipFill>
        <p:spPr>
          <a:xfrm>
            <a:off x="8201025" y="1876573"/>
            <a:ext cx="3409950" cy="1905000"/>
          </a:xfrm>
          <a:prstGeom prst="rect">
            <a:avLst/>
          </a:prstGeom>
          <a:noFill/>
          <a:ln>
            <a:noFill/>
          </a:ln>
        </p:spPr>
      </p:pic>
      <p:sp>
        <p:nvSpPr>
          <p:cNvPr id="236" name="Google Shape;236;p25"/>
          <p:cNvSpPr txBox="1"/>
          <p:nvPr/>
        </p:nvSpPr>
        <p:spPr>
          <a:xfrm>
            <a:off x="8439150" y="4019698"/>
            <a:ext cx="3080385" cy="2571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650" u="none" cap="none" strike="noStrike">
                <a:solidFill>
                  <a:srgbClr val="38BDF8"/>
                </a:solidFill>
                <a:latin typeface="Montserrat Medium"/>
                <a:ea typeface="Montserrat Medium"/>
                <a:cs typeface="Montserrat Medium"/>
                <a:sym typeface="Montserrat Medium"/>
              </a:rPr>
              <a:t>EEO Nomenclature</a:t>
            </a:r>
            <a:endParaRPr/>
          </a:p>
        </p:txBody>
      </p:sp>
      <p:sp>
        <p:nvSpPr>
          <p:cNvPr id="237" name="Google Shape;237;p25"/>
          <p:cNvSpPr txBox="1"/>
          <p:nvPr/>
        </p:nvSpPr>
        <p:spPr>
          <a:xfrm>
            <a:off x="8439150" y="4372123"/>
            <a:ext cx="2933700" cy="1218902"/>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94A3B8"/>
                </a:solidFill>
                <a:latin typeface="Inter"/>
                <a:ea typeface="Inter"/>
                <a:cs typeface="Inter"/>
                <a:sym typeface="Inter"/>
              </a:rPr>
              <a:t>Standardized agency-wide operational alignment and unified nomenclature to ensure clarity and consistency for the Equal Employment Opportunity program.</a:t>
            </a:r>
            <a:endParaRPr/>
          </a:p>
        </p:txBody>
      </p:sp>
      <p:sp>
        <p:nvSpPr>
          <p:cNvPr id="238" name="Google Shape;238;p25"/>
          <p:cNvSpPr txBox="1"/>
          <p:nvPr/>
        </p:nvSpPr>
        <p:spPr>
          <a:xfrm>
            <a:off x="571500" y="571500"/>
            <a:ext cx="11601450" cy="4667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000" u="none" cap="none" strike="noStrike">
                <a:solidFill>
                  <a:srgbClr val="F1F5F9"/>
                </a:solidFill>
                <a:latin typeface="Montserrat SemiBold"/>
                <a:ea typeface="Montserrat SemiBold"/>
                <a:cs typeface="Montserrat SemiBold"/>
                <a:sym typeface="Montserrat SemiBold"/>
              </a:rPr>
              <a:t>Recent Success Highlights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93B"/>
        </a:solidFill>
      </p:bgPr>
    </p:bg>
    <p:spTree>
      <p:nvGrpSpPr>
        <p:cNvPr id="242" name="Shape 242"/>
        <p:cNvGrpSpPr/>
        <p:nvPr/>
      </p:nvGrpSpPr>
      <p:grpSpPr>
        <a:xfrm>
          <a:off x="0" y="0"/>
          <a:ext cx="0" cy="0"/>
          <a:chOff x="0" y="0"/>
          <a:chExt cx="0" cy="0"/>
        </a:xfrm>
      </p:grpSpPr>
      <p:pic>
        <p:nvPicPr>
          <p:cNvPr descr="image.png" id="243" name="Google Shape;243;p2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44" name="Google Shape;244;p26"/>
          <p:cNvPicPr preferRelativeResize="0"/>
          <p:nvPr/>
        </p:nvPicPr>
        <p:blipFill rotWithShape="1">
          <a:blip r:embed="rId4">
            <a:alphaModFix/>
          </a:blip>
          <a:srcRect b="0" l="0" r="0" t="0"/>
          <a:stretch/>
        </p:blipFill>
        <p:spPr>
          <a:xfrm>
            <a:off x="3443287" y="4247108"/>
            <a:ext cx="5305425" cy="647700"/>
          </a:xfrm>
          <a:prstGeom prst="rect">
            <a:avLst/>
          </a:prstGeom>
          <a:noFill/>
          <a:ln>
            <a:noFill/>
          </a:ln>
        </p:spPr>
      </p:pic>
      <p:sp>
        <p:nvSpPr>
          <p:cNvPr id="245" name="Google Shape;245;p26"/>
          <p:cNvSpPr txBox="1"/>
          <p:nvPr/>
        </p:nvSpPr>
        <p:spPr>
          <a:xfrm>
            <a:off x="295275" y="1963042"/>
            <a:ext cx="11601450" cy="10477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6750" u="none" cap="none" strike="noStrike">
                <a:solidFill>
                  <a:srgbClr val="38BDF8"/>
                </a:solidFill>
                <a:latin typeface="Montserrat SemiBold"/>
                <a:ea typeface="Montserrat SemiBold"/>
                <a:cs typeface="Montserrat SemiBold"/>
                <a:sym typeface="Montserrat SemiBold"/>
              </a:rPr>
              <a:t>Questions?</a:t>
            </a:r>
            <a:endParaRPr/>
          </a:p>
        </p:txBody>
      </p:sp>
      <p:sp>
        <p:nvSpPr>
          <p:cNvPr id="246" name="Google Shape;246;p26"/>
          <p:cNvSpPr txBox="1"/>
          <p:nvPr/>
        </p:nvSpPr>
        <p:spPr>
          <a:xfrm>
            <a:off x="571500" y="3201292"/>
            <a:ext cx="11049000" cy="426690"/>
          </a:xfrm>
          <a:prstGeom prst="rect">
            <a:avLst/>
          </a:prstGeom>
          <a:noFill/>
          <a:ln>
            <a:noFill/>
          </a:ln>
        </p:spPr>
        <p:txBody>
          <a:bodyPr anchorCtr="0" anchor="t" bIns="0" lIns="0" spcFirstLastPara="1" rIns="0" wrap="square" tIns="0">
            <a:spAutoFit/>
          </a:bodyPr>
          <a:lstStyle/>
          <a:p>
            <a:pPr indent="0" lvl="0" marL="0" marR="0" rtl="0" algn="ctr">
              <a:lnSpc>
                <a:spcPct val="159952"/>
              </a:lnSpc>
              <a:spcBef>
                <a:spcPts val="0"/>
              </a:spcBef>
              <a:spcAft>
                <a:spcPts val="0"/>
              </a:spcAft>
              <a:buNone/>
            </a:pPr>
            <a:r>
              <a:rPr b="0" i="0" lang="en-US" sz="2100" u="none" cap="none" strike="noStrike">
                <a:solidFill>
                  <a:srgbClr val="94A3B8"/>
                </a:solidFill>
                <a:latin typeface="Inter"/>
                <a:ea typeface="Inter"/>
                <a:cs typeface="Inter"/>
                <a:sym typeface="Inter"/>
              </a:rPr>
              <a:t>Let's build the future state together.</a:t>
            </a:r>
            <a:endParaRPr/>
          </a:p>
        </p:txBody>
      </p:sp>
      <p:pic>
        <p:nvPicPr>
          <p:cNvPr descr="image.png" id="247" name="Google Shape;247;p26"/>
          <p:cNvPicPr preferRelativeResize="0"/>
          <p:nvPr/>
        </p:nvPicPr>
        <p:blipFill rotWithShape="1">
          <a:blip r:embed="rId5">
            <a:alphaModFix/>
          </a:blip>
          <a:srcRect b="0" l="0" r="0" t="0"/>
          <a:stretch/>
        </p:blipFill>
        <p:spPr>
          <a:xfrm>
            <a:off x="3833812" y="4466183"/>
            <a:ext cx="209550" cy="2095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93B"/>
        </a:solidFill>
      </p:bgPr>
    </p:bg>
    <p:spTree>
      <p:nvGrpSpPr>
        <p:cNvPr id="251" name="Shape 251"/>
        <p:cNvGrpSpPr/>
        <p:nvPr/>
      </p:nvGrpSpPr>
      <p:grpSpPr>
        <a:xfrm>
          <a:off x="0" y="0"/>
          <a:ext cx="0" cy="0"/>
          <a:chOff x="0" y="0"/>
          <a:chExt cx="0" cy="0"/>
        </a:xfrm>
      </p:grpSpPr>
      <p:pic>
        <p:nvPicPr>
          <p:cNvPr descr="image.png" id="252" name="Google Shape;252;p2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53" name="Google Shape;253;p27"/>
          <p:cNvSpPr/>
          <p:nvPr/>
        </p:nvSpPr>
        <p:spPr>
          <a:xfrm>
            <a:off x="571500" y="2089993"/>
            <a:ext cx="11049000" cy="9828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4" name="Google Shape;254;p27"/>
          <p:cNvSpPr/>
          <p:nvPr/>
        </p:nvSpPr>
        <p:spPr>
          <a:xfrm>
            <a:off x="571500" y="3072854"/>
            <a:ext cx="11049000" cy="9828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5" name="Google Shape;255;p27"/>
          <p:cNvSpPr/>
          <p:nvPr/>
        </p:nvSpPr>
        <p:spPr>
          <a:xfrm>
            <a:off x="571500" y="4055715"/>
            <a:ext cx="11049000" cy="78477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6" name="Google Shape;256;p27"/>
          <p:cNvSpPr/>
          <p:nvPr/>
        </p:nvSpPr>
        <p:spPr>
          <a:xfrm>
            <a:off x="571500" y="3063329"/>
            <a:ext cx="11049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7" name="Google Shape;257;p27"/>
          <p:cNvSpPr/>
          <p:nvPr/>
        </p:nvSpPr>
        <p:spPr>
          <a:xfrm>
            <a:off x="571500" y="3063329"/>
            <a:ext cx="11049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8" name="Google Shape;258;p27"/>
          <p:cNvSpPr/>
          <p:nvPr/>
        </p:nvSpPr>
        <p:spPr>
          <a:xfrm>
            <a:off x="571500" y="4046190"/>
            <a:ext cx="11049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9" name="Google Shape;259;p27"/>
          <p:cNvSpPr/>
          <p:nvPr/>
        </p:nvSpPr>
        <p:spPr>
          <a:xfrm>
            <a:off x="571500" y="4046190"/>
            <a:ext cx="11049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0" name="Google Shape;260;p27"/>
          <p:cNvSpPr/>
          <p:nvPr/>
        </p:nvSpPr>
        <p:spPr>
          <a:xfrm>
            <a:off x="571500" y="4830960"/>
            <a:ext cx="11049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1" name="Google Shape;261;p27"/>
          <p:cNvSpPr/>
          <p:nvPr/>
        </p:nvSpPr>
        <p:spPr>
          <a:xfrm>
            <a:off x="571500" y="4830960"/>
            <a:ext cx="11049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262" name="Google Shape;262;p27"/>
          <p:cNvPicPr preferRelativeResize="0"/>
          <p:nvPr/>
        </p:nvPicPr>
        <p:blipFill rotWithShape="1">
          <a:blip r:embed="rId4">
            <a:alphaModFix/>
          </a:blip>
          <a:srcRect b="0" l="0" r="0" t="0"/>
          <a:stretch/>
        </p:blipFill>
        <p:spPr>
          <a:xfrm>
            <a:off x="571500" y="2338536"/>
            <a:ext cx="857250" cy="476250"/>
          </a:xfrm>
          <a:prstGeom prst="rect">
            <a:avLst/>
          </a:prstGeom>
          <a:noFill/>
          <a:ln>
            <a:noFill/>
          </a:ln>
        </p:spPr>
      </p:pic>
      <p:sp>
        <p:nvSpPr>
          <p:cNvPr id="263" name="Google Shape;263;p27"/>
          <p:cNvSpPr txBox="1"/>
          <p:nvPr/>
        </p:nvSpPr>
        <p:spPr>
          <a:xfrm>
            <a:off x="1666875" y="2232868"/>
            <a:ext cx="9953625" cy="3961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975" u="none" cap="none" strike="noStrike">
                <a:solidFill>
                  <a:srgbClr val="F1F5F9"/>
                </a:solidFill>
                <a:latin typeface="Inter"/>
                <a:ea typeface="Inter"/>
                <a:cs typeface="Inter"/>
                <a:sym typeface="Inter"/>
              </a:rPr>
              <a:t>https://images.sw.cdn.siemens.com/siemens-disw-assets/public/2TbpOdX2QxmlNGggEOfMDU/en-US/ai-driven-analytics-sd59-hero-2560x1440.jpg?auto=format%2Ccompress&amp;w=2560&amp;h=1440&amp;fit=crop&amp;crop=faces%2Cedges&amp;q=60</a:t>
            </a:r>
            <a:endParaRPr/>
          </a:p>
        </p:txBody>
      </p:sp>
      <p:sp>
        <p:nvSpPr>
          <p:cNvPr id="264" name="Google Shape;264;p27"/>
          <p:cNvSpPr txBox="1"/>
          <p:nvPr/>
        </p:nvSpPr>
        <p:spPr>
          <a:xfrm>
            <a:off x="1666875" y="2676673"/>
            <a:ext cx="9953625"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F1F5F9"/>
                </a:solidFill>
                <a:latin typeface="Inter"/>
                <a:ea typeface="Inter"/>
                <a:cs typeface="Inter"/>
                <a:sym typeface="Inter"/>
              </a:rPr>
              <a:t>Source: </a:t>
            </a:r>
            <a:r>
              <a:rPr b="0" i="0" lang="en-US" sz="1200" u="none" cap="none" strike="noStrike">
                <a:solidFill>
                  <a:srgbClr val="4F46E5"/>
                </a:solidFill>
                <a:latin typeface="Inter"/>
                <a:ea typeface="Inter"/>
                <a:cs typeface="Inter"/>
                <a:sym typeface="Inter"/>
              </a:rPr>
              <a:t>www.siemens.com</a:t>
            </a:r>
            <a:endParaRPr/>
          </a:p>
        </p:txBody>
      </p:sp>
      <p:pic>
        <p:nvPicPr>
          <p:cNvPr descr="image.png" id="265" name="Google Shape;265;p27"/>
          <p:cNvPicPr preferRelativeResize="0"/>
          <p:nvPr/>
        </p:nvPicPr>
        <p:blipFill rotWithShape="1">
          <a:blip r:embed="rId5">
            <a:alphaModFix/>
          </a:blip>
          <a:srcRect b="0" l="0" r="0" t="0"/>
          <a:stretch/>
        </p:blipFill>
        <p:spPr>
          <a:xfrm>
            <a:off x="571500" y="3321397"/>
            <a:ext cx="1162050" cy="914400"/>
          </a:xfrm>
          <a:prstGeom prst="rect">
            <a:avLst/>
          </a:prstGeom>
          <a:noFill/>
          <a:ln>
            <a:noFill/>
          </a:ln>
        </p:spPr>
      </p:pic>
      <p:sp>
        <p:nvSpPr>
          <p:cNvPr id="266" name="Google Shape;266;p27"/>
          <p:cNvSpPr txBox="1"/>
          <p:nvPr/>
        </p:nvSpPr>
        <p:spPr>
          <a:xfrm>
            <a:off x="1666875" y="3215729"/>
            <a:ext cx="9953625" cy="3961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975" u="none" cap="none" strike="noStrike">
                <a:solidFill>
                  <a:srgbClr val="F1F5F9"/>
                </a:solidFill>
                <a:latin typeface="Inter"/>
                <a:ea typeface="Inter"/>
                <a:cs typeface="Inter"/>
                <a:sym typeface="Inter"/>
              </a:rPr>
              <a:t>https://png.pngtree.com/thumb_back/fh260/background/20260520/pngtree-abstract-digital-data-network-visualization-with-glowing-blue-connectivity-lines-and-image_21664474.webp</a:t>
            </a:r>
            <a:endParaRPr/>
          </a:p>
        </p:txBody>
      </p:sp>
      <p:sp>
        <p:nvSpPr>
          <p:cNvPr id="267" name="Google Shape;267;p27"/>
          <p:cNvSpPr txBox="1"/>
          <p:nvPr/>
        </p:nvSpPr>
        <p:spPr>
          <a:xfrm>
            <a:off x="1666875" y="3659534"/>
            <a:ext cx="9953625"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F1F5F9"/>
                </a:solidFill>
                <a:latin typeface="Inter"/>
                <a:ea typeface="Inter"/>
                <a:cs typeface="Inter"/>
                <a:sym typeface="Inter"/>
              </a:rPr>
              <a:t>Source: </a:t>
            </a:r>
            <a:r>
              <a:rPr b="0" i="0" lang="en-US" sz="1200" u="none" cap="none" strike="noStrike">
                <a:solidFill>
                  <a:srgbClr val="4F46E5"/>
                </a:solidFill>
                <a:latin typeface="Inter"/>
                <a:ea typeface="Inter"/>
                <a:cs typeface="Inter"/>
                <a:sym typeface="Inter"/>
              </a:rPr>
              <a:t>pngtree.com</a:t>
            </a:r>
            <a:endParaRPr/>
          </a:p>
        </p:txBody>
      </p:sp>
      <p:pic>
        <p:nvPicPr>
          <p:cNvPr descr="image.png" id="268" name="Google Shape;268;p27"/>
          <p:cNvPicPr preferRelativeResize="0"/>
          <p:nvPr/>
        </p:nvPicPr>
        <p:blipFill rotWithShape="1">
          <a:blip r:embed="rId6">
            <a:alphaModFix/>
          </a:blip>
          <a:srcRect b="0" l="0" r="0" t="0"/>
          <a:stretch/>
        </p:blipFill>
        <p:spPr>
          <a:xfrm>
            <a:off x="571500" y="4205138"/>
            <a:ext cx="857250" cy="476250"/>
          </a:xfrm>
          <a:prstGeom prst="rect">
            <a:avLst/>
          </a:prstGeom>
          <a:noFill/>
          <a:ln>
            <a:noFill/>
          </a:ln>
        </p:spPr>
      </p:pic>
      <p:sp>
        <p:nvSpPr>
          <p:cNvPr id="269" name="Google Shape;269;p27"/>
          <p:cNvSpPr txBox="1"/>
          <p:nvPr/>
        </p:nvSpPr>
        <p:spPr>
          <a:xfrm>
            <a:off x="1666875" y="4198590"/>
            <a:ext cx="9953625" cy="1980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975" u="none" cap="none" strike="noStrike">
                <a:solidFill>
                  <a:srgbClr val="F1F5F9"/>
                </a:solidFill>
                <a:latin typeface="Inter"/>
                <a:ea typeface="Inter"/>
                <a:cs typeface="Inter"/>
                <a:sym typeface="Inter"/>
              </a:rPr>
              <a:t>https://trcaca.s3.ca-central-1.amazonaws.com/app/uploads/2026/05/19143831/rexdale-snap-program-highlights_THMBNL.jpg</a:t>
            </a:r>
            <a:endParaRPr/>
          </a:p>
        </p:txBody>
      </p:sp>
      <p:sp>
        <p:nvSpPr>
          <p:cNvPr id="270" name="Google Shape;270;p27"/>
          <p:cNvSpPr txBox="1"/>
          <p:nvPr/>
        </p:nvSpPr>
        <p:spPr>
          <a:xfrm>
            <a:off x="1666875" y="4444305"/>
            <a:ext cx="9953625"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F1F5F9"/>
                </a:solidFill>
                <a:latin typeface="Inter"/>
                <a:ea typeface="Inter"/>
                <a:cs typeface="Inter"/>
                <a:sym typeface="Inter"/>
              </a:rPr>
              <a:t>Source: </a:t>
            </a:r>
            <a:r>
              <a:rPr b="0" i="0" lang="en-US" sz="1200" u="none" cap="none" strike="noStrike">
                <a:solidFill>
                  <a:srgbClr val="4F46E5"/>
                </a:solidFill>
                <a:latin typeface="Inter"/>
                <a:ea typeface="Inter"/>
                <a:cs typeface="Inter"/>
                <a:sym typeface="Inter"/>
              </a:rPr>
              <a:t>trca.ca</a:t>
            </a:r>
            <a:endParaRPr/>
          </a:p>
        </p:txBody>
      </p:sp>
      <p:pic>
        <p:nvPicPr>
          <p:cNvPr descr="image.png" id="271" name="Google Shape;271;p27"/>
          <p:cNvPicPr preferRelativeResize="0"/>
          <p:nvPr/>
        </p:nvPicPr>
        <p:blipFill rotWithShape="1">
          <a:blip r:embed="rId7">
            <a:alphaModFix/>
          </a:blip>
          <a:srcRect b="0" l="0" r="0" t="0"/>
          <a:stretch/>
        </p:blipFill>
        <p:spPr>
          <a:xfrm>
            <a:off x="571500" y="4989909"/>
            <a:ext cx="857250" cy="476250"/>
          </a:xfrm>
          <a:prstGeom prst="rect">
            <a:avLst/>
          </a:prstGeom>
          <a:noFill/>
          <a:ln>
            <a:noFill/>
          </a:ln>
        </p:spPr>
      </p:pic>
      <p:sp>
        <p:nvSpPr>
          <p:cNvPr id="272" name="Google Shape;272;p27"/>
          <p:cNvSpPr txBox="1"/>
          <p:nvPr/>
        </p:nvSpPr>
        <p:spPr>
          <a:xfrm>
            <a:off x="1666875" y="4983360"/>
            <a:ext cx="9953625" cy="1980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975" u="none" cap="none" strike="noStrike">
                <a:solidFill>
                  <a:srgbClr val="F1F5F9"/>
                </a:solidFill>
                <a:latin typeface="Inter"/>
                <a:ea typeface="Inter"/>
                <a:cs typeface="Inter"/>
                <a:sym typeface="Inter"/>
              </a:rPr>
              <a:t>https://irp.cdn-website.com/bcb8a22d/dms3rep/multi/1+Equal+Employment+Opportunity+Laws.png</a:t>
            </a:r>
            <a:endParaRPr/>
          </a:p>
        </p:txBody>
      </p:sp>
      <p:sp>
        <p:nvSpPr>
          <p:cNvPr id="273" name="Google Shape;273;p27"/>
          <p:cNvSpPr txBox="1"/>
          <p:nvPr/>
        </p:nvSpPr>
        <p:spPr>
          <a:xfrm>
            <a:off x="1666875" y="5229076"/>
            <a:ext cx="9953625"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F1F5F9"/>
                </a:solidFill>
                <a:latin typeface="Inter"/>
                <a:ea typeface="Inter"/>
                <a:cs typeface="Inter"/>
                <a:sym typeface="Inter"/>
              </a:rPr>
              <a:t>Source: </a:t>
            </a:r>
            <a:r>
              <a:rPr b="0" i="0" lang="en-US" sz="1200" u="none" cap="none" strike="noStrike">
                <a:solidFill>
                  <a:srgbClr val="4F46E5"/>
                </a:solidFill>
                <a:latin typeface="Inter"/>
                <a:ea typeface="Inter"/>
                <a:cs typeface="Inter"/>
                <a:sym typeface="Inter"/>
              </a:rPr>
              <a:t>www.recpro.org</a:t>
            </a:r>
            <a:endParaRPr/>
          </a:p>
        </p:txBody>
      </p:sp>
      <p:sp>
        <p:nvSpPr>
          <p:cNvPr id="274" name="Google Shape;274;p27"/>
          <p:cNvSpPr txBox="1"/>
          <p:nvPr/>
        </p:nvSpPr>
        <p:spPr>
          <a:xfrm>
            <a:off x="571500" y="571500"/>
            <a:ext cx="11601450" cy="4667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000" u="none" cap="none" strike="noStrike">
                <a:solidFill>
                  <a:srgbClr val="F1F5F9"/>
                </a:solidFill>
                <a:latin typeface="Montserrat SemiBold"/>
                <a:ea typeface="Montserrat SemiBold"/>
                <a:cs typeface="Montserrat SemiBold"/>
                <a:sym typeface="Montserrat SemiBold"/>
              </a:rPr>
              <a:t>Image Sources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