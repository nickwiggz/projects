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1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Relationship Id="rId24" Type="http://schemas.openxmlformats.org/officeDocument/2006/relationships/image" Target="../media/image49.png"/><Relationship Id="rId25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13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5" y="6196012"/>
            <a:ext cx="3190875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971675"/>
            <a:ext cx="1508075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25" y="1971675"/>
            <a:ext cx="150807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8400" y="1971675"/>
            <a:ext cx="15080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476" y="1971675"/>
            <a:ext cx="1508224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4700" y="1971675"/>
            <a:ext cx="1508075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2775" y="1971675"/>
            <a:ext cx="1508075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352800"/>
            <a:ext cx="2381250" cy="619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971925"/>
            <a:ext cx="2381250" cy="619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591050"/>
            <a:ext cx="2381250" cy="619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210175"/>
            <a:ext cx="2381250" cy="619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190500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223837"/>
            <a:ext cx="586073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Oswald"/>
              </a:rPr>
              <a:t>DOD OIG PURCHASE REQUEST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6300787"/>
            <a:ext cx="7029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3366"/>
                </a:solidFill>
                <a:latin typeface="Roboto"/>
              </a:rPr>
              <a:t>RESOURCES &amp; ADDITIONAL GUIDANCE:</a:t>
            </a:r>
            <a:r>
              <a:rPr b="0" sz="1350" i="0" u="none">
                <a:solidFill>
                  <a:srgbClr val="003366"/>
                </a:solidFill>
                <a:latin typeface="Roboto Medium"/>
              </a:rPr>
              <a:t> Consult OIG instruction 4100.XX or policy guidance.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" y="1333500"/>
            <a:ext cx="11811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3366"/>
                </a:solidFill>
                <a:latin typeface="Oswald"/>
              </a:rPr>
              <a:t>Quick Reference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676525"/>
            <a:ext cx="219075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333333"/>
                </a:solidFill>
                <a:latin typeface="Roboto"/>
              </a:rPr>
              <a:t>REQUIREMENT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78400" y="3352800"/>
            <a:ext cx="1508075" cy="61912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6476" y="3352800"/>
            <a:ext cx="1508224" cy="61912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02775" y="3352800"/>
            <a:ext cx="1508075" cy="61912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62250" y="397192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325" y="397192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02775" y="397192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62250" y="4591050"/>
            <a:ext cx="1508075" cy="61912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325" y="4591050"/>
            <a:ext cx="1508075" cy="61912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325" y="521017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78400" y="521017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86476" y="5210175"/>
            <a:ext cx="1508224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94700" y="521017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02775" y="5210175"/>
            <a:ext cx="1508075" cy="619125"/>
          </a:xfrm>
          <a:prstGeom prst="rect">
            <a:avLst/>
          </a:prstGeom>
          <a:solidFill>
            <a:srgbClr val="FEFEFE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9675" y="6310312"/>
            <a:ext cx="27717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🔗 oig.dod.mil/purchase-request-matrix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25713" y="2686050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762250" y="31146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Supplies/Credit Card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3788" y="2686050"/>
            <a:ext cx="381000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70325" y="31146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Delegated Authority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1864" y="2686050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78400" y="31146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Single Person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0088" y="268605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86476" y="3114675"/>
            <a:ext cx="1508224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Team Learning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13068" y="2686050"/>
            <a:ext cx="471189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94700" y="31146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Lecture Hall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45254" y="2686050"/>
            <a:ext cx="423118" cy="381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302775" y="31146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Booths/Networking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3567112"/>
            <a:ext cx="28575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16200" y="3457575"/>
            <a:ext cx="200025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62250" y="373380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24276" y="3457575"/>
            <a:ext cx="200025" cy="228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70325" y="373380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8651" y="3457575"/>
            <a:ext cx="200025" cy="2286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794700" y="373380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4186237"/>
            <a:ext cx="285750" cy="1905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2351" y="4076700"/>
            <a:ext cx="200025" cy="228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778400" y="435292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40575" y="4076700"/>
            <a:ext cx="200025" cy="2286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286476" y="4352925"/>
            <a:ext cx="1508224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8651" y="4076700"/>
            <a:ext cx="200025" cy="228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94700" y="435292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4805362"/>
            <a:ext cx="285750" cy="190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2351" y="4695825"/>
            <a:ext cx="200025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778400" y="497205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40575" y="4695825"/>
            <a:ext cx="200025" cy="2286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86476" y="4972050"/>
            <a:ext cx="1508224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8651" y="4695825"/>
            <a:ext cx="200025" cy="2286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94700" y="497205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56726" y="4695825"/>
            <a:ext cx="200025" cy="2286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302775" y="4972050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REQUIRED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3400" y="5424487"/>
            <a:ext cx="264169" cy="1905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16200" y="5314950"/>
            <a:ext cx="200025" cy="228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2762250" y="5591175"/>
            <a:ext cx="15080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33333"/>
                </a:solidFill>
                <a:latin typeface="Roboto"/>
              </a:rPr>
              <a:t>(IF SUPPLIES)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0"/>
            <a:ext cx="12192000" cy="495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325" y="6196012"/>
            <a:ext cx="2733675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90500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23837"/>
            <a:ext cx="586073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Oswald"/>
              </a:rPr>
              <a:t>DOD OIG PURCHASE REQUEST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300787"/>
            <a:ext cx="5600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3366"/>
                </a:solidFill>
                <a:latin typeface="Roboto"/>
              </a:rPr>
              <a:t>RESOURCES &amp; ADDITIONAL GUIDANCE:</a:t>
            </a:r>
            <a:r>
              <a:rPr b="0" sz="1350" i="0" u="none">
                <a:solidFill>
                  <a:srgbClr val="003366"/>
                </a:solidFill>
                <a:latin typeface="Roboto Medium"/>
              </a:rPr>
              <a:t> Consult OIG instruction 4100.XX.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" y="1333500"/>
            <a:ext cx="11811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3366"/>
                </a:solidFill>
                <a:latin typeface="Oswald"/>
              </a:rPr>
              <a:t>Document Requirements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6875" y="6310312"/>
            <a:ext cx="2314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🔗 Matrix Link for Request 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6196012"/>
            <a:ext cx="21145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33500"/>
            <a:ext cx="3683049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49" y="1333500"/>
            <a:ext cx="3683049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1333500"/>
            <a:ext cx="3683049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86000"/>
            <a:ext cx="7715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2286000"/>
            <a:ext cx="1809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00400"/>
            <a:ext cx="7715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49" y="2286000"/>
            <a:ext cx="15335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4299" y="2286000"/>
            <a:ext cx="8477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49" y="3200400"/>
            <a:ext cx="15335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4299" y="3200400"/>
            <a:ext cx="8477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599" y="2286000"/>
            <a:ext cx="7715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5849" y="2286000"/>
            <a:ext cx="15335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2581275"/>
            <a:ext cx="8477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599" y="3495675"/>
            <a:ext cx="8477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190500"/>
            <a:ext cx="571500" cy="571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" y="223837"/>
            <a:ext cx="586073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Oswald"/>
              </a:rPr>
              <a:t>DOD OIG PURCHASE REQUEST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6300787"/>
            <a:ext cx="6000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3366"/>
                </a:solidFill>
                <a:latin typeface="Roboto"/>
              </a:rPr>
              <a:t>QUICK REFERENCE:</a:t>
            </a:r>
            <a:r>
              <a:rPr b="0" sz="1350" i="0" u="none">
                <a:solidFill>
                  <a:srgbClr val="003366"/>
                </a:solidFill>
                <a:latin typeface="Roboto Medium"/>
              </a:rPr>
              <a:t> Select category, find sub-type, attach required documents.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310312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🔗 Download Matrix 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" y="1333500"/>
            <a:ext cx="3683049" cy="485775"/>
          </a:xfrm>
          <a:prstGeom prst="rect">
            <a:avLst/>
          </a:prstGeom>
          <a:solidFill>
            <a:srgbClr val="4A7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" y="1476375"/>
            <a:ext cx="3397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Roboto"/>
              </a:rPr>
              <a:t>SUPPLIES &amp; GENERAL PURCHASES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4549" y="1333500"/>
            <a:ext cx="3683049" cy="485775"/>
          </a:xfrm>
          <a:prstGeom prst="rect">
            <a:avLst/>
          </a:prstGeom>
          <a:solidFill>
            <a:srgbClr val="CD9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7424" y="1476375"/>
            <a:ext cx="3397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Roboto"/>
              </a:rPr>
              <a:t>TRAINING REQUIREMENTS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8099" y="1333500"/>
            <a:ext cx="3683049" cy="485775"/>
          </a:xfrm>
          <a:prstGeom prst="rect">
            <a:avLst/>
          </a:prstGeom>
          <a:solidFill>
            <a:srgbClr val="2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0974" y="1476375"/>
            <a:ext cx="3397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Roboto"/>
              </a:rPr>
              <a:t>CONFERENCE ATTENDANCE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2771775"/>
            <a:ext cx="3302049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5049" y="2771775"/>
            <a:ext cx="3302049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18599" y="3067050"/>
            <a:ext cx="3302049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" y="2009775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1. GPC Micro (Micro-Purchases)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2924175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2. GPC Ordering Official (Delegated)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49" y="2009775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3. GPC Individual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5049" y="2924175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4. GPC Group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8599" y="2009775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5. GPC Training Conference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8599" y="3219450"/>
            <a:ext cx="34671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6. GPC Informational Conference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2352675"/>
            <a:ext cx="85725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1150" y="2352675"/>
            <a:ext cx="8572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3267075"/>
            <a:ext cx="8572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97449" y="2352675"/>
            <a:ext cx="114300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6699" y="2352675"/>
            <a:ext cx="133350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97449" y="3267075"/>
            <a:ext cx="114300" cy="1143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6699" y="3267075"/>
            <a:ext cx="133350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0999" y="2352675"/>
            <a:ext cx="85725" cy="1143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28249" y="2352675"/>
            <a:ext cx="114300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0999" y="2647950"/>
            <a:ext cx="133350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0999" y="3562350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825" y="6196012"/>
            <a:ext cx="2162175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33500"/>
            <a:ext cx="3682900" cy="2238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400" y="1333500"/>
            <a:ext cx="3683049" cy="2238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950" y="1333500"/>
            <a:ext cx="3682900" cy="2238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762375"/>
            <a:ext cx="3682900" cy="2457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00" y="3762375"/>
            <a:ext cx="3683049" cy="2457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950" y="3762375"/>
            <a:ext cx="3682900" cy="2457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2819400"/>
            <a:ext cx="3282850" cy="552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425" y="2819400"/>
            <a:ext cx="3282999" cy="333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975" y="2819400"/>
            <a:ext cx="3282850" cy="552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248275"/>
            <a:ext cx="3282850" cy="552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425" y="5248275"/>
            <a:ext cx="3282999" cy="7715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975" y="5248275"/>
            <a:ext cx="3282850" cy="3333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190500"/>
            <a:ext cx="571500" cy="571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223837"/>
            <a:ext cx="586073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Oswald"/>
              </a:rPr>
              <a:t>DOD OIG PURCHASE REQUEST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300787"/>
            <a:ext cx="5467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3366"/>
                </a:solidFill>
                <a:latin typeface="Roboto"/>
              </a:rPr>
              <a:t>Need Help?</a:t>
            </a:r>
            <a:r>
              <a:rPr b="0" sz="1350" i="0" u="none">
                <a:solidFill>
                  <a:srgbClr val="003366"/>
                </a:solidFill>
                <a:latin typeface="Roboto Medium"/>
              </a:rPr>
              <a:t> Consult OIG instruction 4100.XX or contact the policy office.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8375" y="6310312"/>
            <a:ext cx="17430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3366"/>
                </a:solidFill>
                <a:latin typeface="Roboto"/>
              </a:rPr>
              <a:t>🔗 Shareable Matrix Link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6700" y="1533525"/>
            <a:ext cx="571500" cy="571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2384" y="2247900"/>
            <a:ext cx="106013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1. GPC Micro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101" y="1533525"/>
            <a:ext cx="571500" cy="571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35731" y="2247900"/>
            <a:ext cx="19202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2. GPC Ordering Official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3650" y="1533525"/>
            <a:ext cx="571500" cy="571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24270" y="2247900"/>
            <a:ext cx="209026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3. GPC Individual Training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6700" y="3962400"/>
            <a:ext cx="571500" cy="571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27338" y="4676775"/>
            <a:ext cx="179022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4. GPC Group Training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101" y="3962400"/>
            <a:ext cx="571500" cy="571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975711" y="4676775"/>
            <a:ext cx="224028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5. GPC Training Conference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3650" y="3962400"/>
            <a:ext cx="571500" cy="571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29283" y="4676775"/>
            <a:ext cx="188023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3366"/>
                </a:solidFill>
                <a:latin typeface="Roboto"/>
              </a:rPr>
              <a:t>6. GPC Info Conference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9100" y="1666875"/>
            <a:ext cx="266700" cy="304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7250" y="2914650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Quote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3133725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IG Form 4100 (If Supplies)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43451" y="1666875"/>
            <a:ext cx="30480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30650" y="2914650"/>
            <a:ext cx="2911524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Quote Required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36050" y="1666875"/>
            <a:ext cx="2667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04200" y="2914650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Agenda/Course 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200" y="3133725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SF182 Required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31950" y="4095750"/>
            <a:ext cx="381000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7250" y="5343525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Agenda/Course Info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" y="5562600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SF182 Required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05351" y="4095750"/>
            <a:ext cx="381000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730650" y="5343525"/>
            <a:ext cx="2911524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Quote Required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0650" y="5562600"/>
            <a:ext cx="2911524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Agenda/Course 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0650" y="5781675"/>
            <a:ext cx="2911524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SF182 Required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78900" y="4095750"/>
            <a:ext cx="381000" cy="304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04200" y="5343525"/>
            <a:ext cx="29113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SF182 Required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" y="2924175"/>
            <a:ext cx="104775" cy="1238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" y="3143250"/>
            <a:ext cx="104775" cy="1238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9675" y="2924175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3225" y="2924175"/>
            <a:ext cx="104775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3225" y="3143250"/>
            <a:ext cx="104775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" y="5353050"/>
            <a:ext cx="104775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" y="5572125"/>
            <a:ext cx="104775" cy="1238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9675" y="5353050"/>
            <a:ext cx="104775" cy="1238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9675" y="5572125"/>
            <a:ext cx="104775" cy="1238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9675" y="5791200"/>
            <a:ext cx="104775" cy="12382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3225" y="5353050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3333"/>
                </a:solidFill>
                <a:latin typeface="Roboto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8382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381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52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924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371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371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033462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https://www.war.gov/portals/1/Page-Assets/branding-guide/seals/DOW-Seal-BW_sm.png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223962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www.war.gov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1804987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https://media.gamestop.com/i/gamestop/20027896/KPop-Demon-Hunters-Mystery-Mini-Backpack-Keychain-Charm-Styles-May-Vary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1995487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www.gamestop.com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41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2576512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https://static.vecteezy.com/system/resources/previews/068/984/734/non_2x/legal-authority-symbol-represented-by-a-gavel-illustration-for-justice-vector.jpg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2767012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www.vecteezy.com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56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348037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https://static.vecteezy.com/system/resources/thumbnails/066/400/229/small/simple-outline-tutor-with-student-and-laptop-icon-education-and-teaching-vector.jpg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3538537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www.vecteezy.com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67175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119562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https://static.vecteezy.com/system/resources/previews/076/690/412/non_2x/a-presenter-gives-a-lecture-to-a-small-group-of-people-in-a-classroom-setting-vector.jpg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310062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3870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4891087"/>
            <a:ext cx="9953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https://static.vecteezy.com/system/resources/previews/071/753/163/non_2x/simple-line-art-presentation-icon-with-presenter-and-audience-group-outline-vector.jpg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081587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www.vecteezy.com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3333"/>
                </a:solidFill>
                <a:latin typeface="Roboto"/>
              </a:rPr>
              <a:t>Image Sources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981075"/>
            <a:ext cx="99536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3333"/>
                </a:solidFill>
                <a:latin typeface="Roboto"/>
              </a:rPr>
              <a:t>https://media.istockphoto.com/id/2125124893/vector/teamwork-and-meeting-icons-line-series.jpg?s=612x612&amp;w=0&amp;k=20&amp;c=-0DYVta7SxwaZ4YM1KO_ahM_OMRO8N6wMkJ_MPTfu3I=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14450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3333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